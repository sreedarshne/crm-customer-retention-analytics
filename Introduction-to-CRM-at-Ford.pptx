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0" r:id="rId4"/>
    <p:sldId id="261" r:id="rId5"/>
    <p:sldId id="257" r:id="rId6"/>
    <p:sldId id="258" r:id="rId7"/>
    <p:sldId id="259" r:id="rId8"/>
    <p:sldId id="262" r:id="rId9"/>
    <p:sldId id="263" r:id="rId10"/>
    <p:sldId id="264" r:id="rId11"/>
    <p:sldId id="265" r:id="rId12"/>
    <p:sldId id="268" r:id="rId13"/>
    <p:sldId id="267" r:id="rId14"/>
  </p:sldIdLst>
  <p:sldSz cx="14630400" cy="8229600"/>
  <p:notesSz cx="8229600" cy="14630400"/>
  <p:embeddedFontLst>
    <p:embeddedFont>
      <p:font typeface="Merriweather" panose="000005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5" d="100"/>
          <a:sy n="55" d="100"/>
        </p:scale>
        <p:origin x="652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50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199-6451-0B04-CD9D-F6C41235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2FB6A-7354-8432-AE8B-9AD5A7A8B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2061B-2C37-FA68-8C5D-4FB443479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E1749-00E1-B22E-44EB-4BA2D207F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83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3A854D-62A4-7CA5-10DE-351CD58F49F6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C2518-44C7-84B0-741D-D613D19A0B01}"/>
              </a:ext>
            </a:extLst>
          </p:cNvPr>
          <p:cNvSpPr txBox="1"/>
          <p:nvPr/>
        </p:nvSpPr>
        <p:spPr>
          <a:xfrm>
            <a:off x="5631366" y="1851102"/>
            <a:ext cx="88317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CRM Techniques at Ford Motor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D3C47-FDB1-317A-52B4-FEEC715B0615}"/>
              </a:ext>
            </a:extLst>
          </p:cNvPr>
          <p:cNvSpPr txBox="1"/>
          <p:nvPr/>
        </p:nvSpPr>
        <p:spPr>
          <a:xfrm>
            <a:off x="6713034" y="4003288"/>
            <a:ext cx="717023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22MIA1142 – SUJANA S</a:t>
            </a:r>
          </a:p>
          <a:p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22MIA1159 – DAPHNI MICHELLE B</a:t>
            </a:r>
          </a:p>
          <a:p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22MIA1167 – SREE DARSHNE J</a:t>
            </a:r>
          </a:p>
          <a:p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22MIA1181 – HARIPRIYA T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F262-BB97-5F31-97F5-10B2661C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53481FF-761B-E6F7-ACF4-6976D4CED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73BD655-D3B5-1917-0259-613CD55ADDBD}"/>
              </a:ext>
            </a:extLst>
          </p:cNvPr>
          <p:cNvSpPr/>
          <p:nvPr/>
        </p:nvSpPr>
        <p:spPr>
          <a:xfrm>
            <a:off x="6350198" y="84808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Introduction to Ford</a:t>
            </a:r>
            <a:endParaRPr lang="en-US" sz="4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DA108D-6C75-75C1-B389-A19A47DAE31D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C1F62-464E-0544-8E0D-A788C36C4C6C}"/>
              </a:ext>
            </a:extLst>
          </p:cNvPr>
          <p:cNvSpPr txBox="1"/>
          <p:nvPr/>
        </p:nvSpPr>
        <p:spPr>
          <a:xfrm>
            <a:off x="6133171" y="1898830"/>
            <a:ext cx="810693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Ford Motor Company is a global automobile and mobility solutions company focused on delivering innovative, sustainable, and customer-centric transportation. The company aims to enhance customer satisfaction, strengthen brand loyalty, and drive long-term business growth through advanced technology and digital transformation.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Ford uses Customer Relationship Management (CRM) systems to understand customer needs, personalize interactions, and manage relationships across marketing, sales, and after-sales services. The motivation for using CRM is to improve customer experience, increase retention, and maximize customer lifetime value while supporting Ford’s transition from a traditional automaker to a customer-focused mobility company.</a:t>
            </a:r>
          </a:p>
          <a:p>
            <a:pPr algn="just"/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8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7018" y="339328"/>
            <a:ext cx="1261705" cy="231696"/>
          </a:xfrm>
          <a:prstGeom prst="roundRect">
            <a:avLst>
              <a:gd name="adj" fmla="val 17897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40956" y="376238"/>
            <a:ext cx="1113830" cy="15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HISTORICAL 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767018" y="620316"/>
            <a:ext cx="7096363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Background &amp; History of Ford: A CRM Perspective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956" y="1699302"/>
            <a:ext cx="3397687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Founded in 1903: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Henry Ford's vision revolutionized manufacturing and made automobiles accessible to the masses.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956" y="2461953"/>
            <a:ext cx="3397687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Early Accessibility Focus: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Initial strategies centered on affordability, creating a broad customer base and a foundational relationship with everyday Americans.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956" y="3405611"/>
            <a:ext cx="3397687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Dealer-Based Relations: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Established strong, localized customer relationship systems through an extensive dealer network, emphasizing personal interaction.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59387" y="4408596"/>
            <a:ext cx="3397687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Global Expansion: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Expanded worldwide with adaptable, localized customer engagement strategies to meet diverse market needs.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59388" y="5399818"/>
            <a:ext cx="3397687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Digital Transformation: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Evolved from a traditional manufacturer to a digitally connected, customer-centric enterprise, embracing new technologies.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9389" y="6352018"/>
            <a:ext cx="339768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Modern Ownership Emphasis: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Today's Ford prioritizes the entire long-term ownership experience and service relationships, moving beyond just vehicle sales.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355" y="1061739"/>
            <a:ext cx="3397687" cy="3397687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355" y="4580397"/>
            <a:ext cx="3397687" cy="3397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B55274-982A-044D-1C64-AA152FA1E002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238" y="557093"/>
            <a:ext cx="8993862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 Evolution: Milestones &amp; Recognitions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03651" y="1453515"/>
            <a:ext cx="22860" cy="6218873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6482" y="1638776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18330" y="1453515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83874" y="1486257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3663791" y="1513642"/>
            <a:ext cx="277677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Early Dealer CRM Systems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286238" y="1891784"/>
            <a:ext cx="4154329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Initial focus on strengthening customer ties through local dealership networks and personalized sales efforts.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88972" y="2688193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118330" y="2502932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83874" y="2535674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189595" y="2563058"/>
            <a:ext cx="351901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Enterprise-wide CRM Integration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9595" y="2941201"/>
            <a:ext cx="4154448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Transition to integrated platforms to unify customer data and streamline interactions across all touchpoints.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16482" y="3592830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18330" y="3407569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83874" y="3440311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3216473" y="3467695"/>
            <a:ext cx="322409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Launch of FordPass Ecosystem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86238" y="3845838"/>
            <a:ext cx="4154329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Introduced a digital platform for connectivity, rewards, and vehicle management, enhancing the digital ownership experience.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88972" y="4497467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18330" y="4312206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83874" y="4344948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8189595" y="4372332"/>
            <a:ext cx="415444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Marketing Automation &amp; Personalization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9595" y="5023723"/>
            <a:ext cx="4154448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Utilized CRM data for highly targeted marketing campaigns and personalized communications to individual customers.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16482" y="5447824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18330" y="5262563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83874" y="5295305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4192429" y="5322689"/>
            <a:ext cx="22481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Industry Recognition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286238" y="5700832"/>
            <a:ext cx="4154329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Received accolades for excellence in customer satisfaction and innovative digital strategies in the automotive sector.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488972" y="6398181"/>
            <a:ext cx="524708" cy="22860"/>
          </a:xfrm>
          <a:prstGeom prst="roundRect">
            <a:avLst>
              <a:gd name="adj" fmla="val 321376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18330" y="6212919"/>
            <a:ext cx="393502" cy="393502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83874" y="6245662"/>
            <a:ext cx="262295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</a:t>
            </a:r>
            <a:endParaRPr lang="en-US" sz="2050" dirty="0"/>
          </a:p>
        </p:txBody>
      </p:sp>
      <p:sp>
        <p:nvSpPr>
          <p:cNvPr id="32" name="Text 30"/>
          <p:cNvSpPr/>
          <p:nvPr/>
        </p:nvSpPr>
        <p:spPr>
          <a:xfrm>
            <a:off x="8189595" y="6273046"/>
            <a:ext cx="282725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CX Investment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89595" y="6651188"/>
            <a:ext cx="4154448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Ongoing dedication to developing advanced connected customer experience technologies and future-proofing relationships.</a:t>
            </a:r>
            <a:endParaRPr lang="en-US" sz="13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3DCD6B-01DD-A16A-96E3-B526A1718D12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19193" y="497324"/>
            <a:ext cx="1453158" cy="339566"/>
          </a:xfrm>
          <a:prstGeom prst="roundRect">
            <a:avLst>
              <a:gd name="adj" fmla="val 17883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27540" y="551498"/>
            <a:ext cx="1236464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PRACTICES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19193" y="909161"/>
            <a:ext cx="659249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Modern CRM Practices at Ford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2119193" y="2015847"/>
            <a:ext cx="3343513" cy="3062645"/>
          </a:xfrm>
          <a:prstGeom prst="roundRect">
            <a:avLst>
              <a:gd name="adj" fmla="val 3583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19193" y="1992987"/>
            <a:ext cx="3343513" cy="91440"/>
          </a:xfrm>
          <a:prstGeom prst="roundRect">
            <a:avLst>
              <a:gd name="adj" fmla="val 8301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519904" y="1744861"/>
            <a:ext cx="542092" cy="542092"/>
          </a:xfrm>
          <a:prstGeom prst="roundRect">
            <a:avLst>
              <a:gd name="adj" fmla="val 16868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82544" y="1880354"/>
            <a:ext cx="21681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22671" y="2467570"/>
            <a:ext cx="2936558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Centralized Digital Platforms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322671" y="3140512"/>
            <a:ext cx="2936558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Ford integrates customer data from dealerships, websites, mobile apps, and service centers into unified digital CRM platforms.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43324" y="2015847"/>
            <a:ext cx="3343632" cy="3062645"/>
          </a:xfrm>
          <a:prstGeom prst="roundRect">
            <a:avLst>
              <a:gd name="adj" fmla="val 3583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643324" y="1992987"/>
            <a:ext cx="3343632" cy="91440"/>
          </a:xfrm>
          <a:prstGeom prst="roundRect">
            <a:avLst>
              <a:gd name="adj" fmla="val 8301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44035" y="1744861"/>
            <a:ext cx="542092" cy="542092"/>
          </a:xfrm>
          <a:prstGeom prst="roundRect">
            <a:avLst>
              <a:gd name="adj" fmla="val 16868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06675" y="1880354"/>
            <a:ext cx="21681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46802" y="2467570"/>
            <a:ext cx="2936677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Omni-channel Engagement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846802" y="3140512"/>
            <a:ext cx="2936677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Ensures consistent customer experiences across all physical and digital touchpoints, from initial inquiry to post-purchase support.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67574" y="2015847"/>
            <a:ext cx="3343632" cy="3062645"/>
          </a:xfrm>
          <a:prstGeom prst="roundRect">
            <a:avLst>
              <a:gd name="adj" fmla="val 3583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167574" y="1992987"/>
            <a:ext cx="3343632" cy="91440"/>
          </a:xfrm>
          <a:prstGeom prst="roundRect">
            <a:avLst>
              <a:gd name="adj" fmla="val 8301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568285" y="1744861"/>
            <a:ext cx="542092" cy="542092"/>
          </a:xfrm>
          <a:prstGeom prst="roundRect">
            <a:avLst>
              <a:gd name="adj" fmla="val 16868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730925" y="1880354"/>
            <a:ext cx="21681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71052" y="2467570"/>
            <a:ext cx="2936677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Automation &amp; Communication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371052" y="3140512"/>
            <a:ext cx="2936677" cy="1734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Automation tools manage marketing campaigns, service reminders, and personalized customer communications, ensuring timely and relevant interactions.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19193" y="5530096"/>
            <a:ext cx="5105638" cy="2202180"/>
          </a:xfrm>
          <a:prstGeom prst="roundRect">
            <a:avLst>
              <a:gd name="adj" fmla="val 4983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119193" y="5507236"/>
            <a:ext cx="5105638" cy="91440"/>
          </a:xfrm>
          <a:prstGeom prst="roundRect">
            <a:avLst>
              <a:gd name="adj" fmla="val 8301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00967" y="5259110"/>
            <a:ext cx="542092" cy="542092"/>
          </a:xfrm>
          <a:prstGeom prst="roundRect">
            <a:avLst>
              <a:gd name="adj" fmla="val 16868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63606" y="5394603"/>
            <a:ext cx="21681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322671" y="5981819"/>
            <a:ext cx="253448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Connected Vehicle Data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22671" y="6372463"/>
            <a:ext cx="4698682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Vehicle data is integrated into CRM to enable proactive service, personalized offers, and enhanced driving experiences.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5449" y="5530096"/>
            <a:ext cx="5105757" cy="2202180"/>
          </a:xfrm>
          <a:prstGeom prst="roundRect">
            <a:avLst>
              <a:gd name="adj" fmla="val 4983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05449" y="5507236"/>
            <a:ext cx="5105757" cy="91440"/>
          </a:xfrm>
          <a:prstGeom prst="roundRect">
            <a:avLst>
              <a:gd name="adj" fmla="val 8301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687223" y="5259110"/>
            <a:ext cx="542092" cy="542092"/>
          </a:xfrm>
          <a:prstGeom prst="roundRect">
            <a:avLst>
              <a:gd name="adj" fmla="val 16868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849862" y="5394603"/>
            <a:ext cx="21681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608927" y="5981819"/>
            <a:ext cx="330862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Analytics &amp; AI-Driven Insights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608927" y="6372463"/>
            <a:ext cx="4698802" cy="115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Leverages advanced analytics and artificial intelligence to predict customer needs, optimize engagement strategies, and improve overall satisfaction.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BE3856-7EF9-13B6-D4F0-011A7C676AB1}"/>
              </a:ext>
            </a:extLst>
          </p:cNvPr>
          <p:cNvSpPr/>
          <p:nvPr/>
        </p:nvSpPr>
        <p:spPr>
          <a:xfrm>
            <a:off x="12597062" y="776157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129" y="804743"/>
            <a:ext cx="12946142" cy="14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Indispensable Role of CRM in Ford’s Business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42129" y="2662357"/>
            <a:ext cx="12946142" cy="4762500"/>
          </a:xfrm>
          <a:prstGeom prst="roundRect">
            <a:avLst>
              <a:gd name="adj" fmla="val 198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49749" y="2669977"/>
            <a:ext cx="4310301" cy="2729627"/>
          </a:xfrm>
          <a:prstGeom prst="roundRect">
            <a:avLst>
              <a:gd name="adj" fmla="val 3464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4896" y="2895124"/>
            <a:ext cx="3860006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Enhanced Customer Engagement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4896" y="3733800"/>
            <a:ext cx="3860006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 fosters stronger relationships, leading to increased satisfaction and a more profound connection with the Ford brand.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60050" y="2669977"/>
            <a:ext cx="4310301" cy="2729627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60050" y="2669977"/>
            <a:ext cx="30480" cy="2729627"/>
          </a:xfrm>
          <a:prstGeom prst="roundRect">
            <a:avLst>
              <a:gd name="adj" fmla="val 310248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85197" y="2895124"/>
            <a:ext cx="3860006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Proactive Service &amp; Personalization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85197" y="3733800"/>
            <a:ext cx="3860006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Enables predictive maintenance alerts and highly personalized service experiences tailored to individual customer needs.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70350" y="2669977"/>
            <a:ext cx="4310301" cy="2729627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470350" y="2669977"/>
            <a:ext cx="30480" cy="2729627"/>
          </a:xfrm>
          <a:prstGeom prst="roundRect">
            <a:avLst>
              <a:gd name="adj" fmla="val 310248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95498" y="2895124"/>
            <a:ext cx="380821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Strengthened Brand Loyalty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5498" y="3381970"/>
            <a:ext cx="3860006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Cultivates long-term loyalty and emotional connections through consistent positive interactions and personalized offerings.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49749" y="5399603"/>
            <a:ext cx="6465451" cy="2017633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9749" y="5399603"/>
            <a:ext cx="6465451" cy="30480"/>
          </a:xfrm>
          <a:prstGeom prst="roundRect">
            <a:avLst>
              <a:gd name="adj" fmla="val 310248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74896" y="5624751"/>
            <a:ext cx="454354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Optimized Retention &amp; Purchases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4896" y="6111597"/>
            <a:ext cx="6015157" cy="10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Drives higher customer retention rates and encourages repeat purchases, maximizing the lifetime value of each customer.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15200" y="5399603"/>
            <a:ext cx="6465451" cy="2017633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0" y="5399603"/>
            <a:ext cx="30480" cy="2017633"/>
          </a:xfrm>
          <a:prstGeom prst="roundRect">
            <a:avLst>
              <a:gd name="adj" fmla="val 310248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0" y="5399603"/>
            <a:ext cx="6465451" cy="30480"/>
          </a:xfrm>
          <a:prstGeom prst="roundRect">
            <a:avLst>
              <a:gd name="adj" fmla="val 310248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540347" y="5624751"/>
            <a:ext cx="402752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Decision Making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0347" y="6111597"/>
            <a:ext cx="6015157" cy="10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Provides actionable insights from customer data, empowering strategic decisions across all business functions.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46929E-7F5C-B2A9-062E-D87F2FE720FA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6218" y="641033"/>
            <a:ext cx="618303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CRM Concepts Applied by Ford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771787" y="1396603"/>
            <a:ext cx="847725" cy="1085136"/>
          </a:xfrm>
          <a:prstGeom prst="roundRect">
            <a:avLst>
              <a:gd name="adj" fmla="val 73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1946" y="1835468"/>
            <a:ext cx="207288" cy="207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6911" y="1544002"/>
            <a:ext cx="209395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Relationship Marketing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6911" y="1862852"/>
            <a:ext cx="563987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engagement strategies that extend far beyond the initial vehicle sale, building enduring connections.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93212" y="2477929"/>
            <a:ext cx="5787271" cy="7620"/>
          </a:xfrm>
          <a:prstGeom prst="roundRect">
            <a:avLst>
              <a:gd name="adj" fmla="val 81268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347805" y="2555438"/>
            <a:ext cx="1695569" cy="1085136"/>
          </a:xfrm>
          <a:prstGeom prst="roundRect">
            <a:avLst>
              <a:gd name="adj" fmla="val 57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1946" y="2994303"/>
            <a:ext cx="207288" cy="207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0774" y="2702838"/>
            <a:ext cx="268962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Lifetime Value (CLV)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190774" y="3021687"/>
            <a:ext cx="521600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Utilizing CRM for segmentation and targeted offers to maximize the total revenue a customer generates over their relationship with Ford.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17074" y="3636764"/>
            <a:ext cx="5363408" cy="7620"/>
          </a:xfrm>
          <a:prstGeom prst="roundRect">
            <a:avLst>
              <a:gd name="adj" fmla="val 81268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923943" y="3714274"/>
            <a:ext cx="2543294" cy="1085136"/>
          </a:xfrm>
          <a:prstGeom prst="roundRect">
            <a:avLst>
              <a:gd name="adj" fmla="val 57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1946" y="4153138"/>
            <a:ext cx="207288" cy="2072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4636" y="386167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Equity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614636" y="4180523"/>
            <a:ext cx="479214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Shifting focus from single transactions to the aggregate value of customer relationships, viewed as a significant asset for Ford.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40937" y="4795599"/>
            <a:ext cx="4939546" cy="7620"/>
          </a:xfrm>
          <a:prstGeom prst="roundRect">
            <a:avLst>
              <a:gd name="adj" fmla="val 81268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500080" y="4873109"/>
            <a:ext cx="3391138" cy="1320879"/>
          </a:xfrm>
          <a:prstGeom prst="roundRect">
            <a:avLst>
              <a:gd name="adj" fmla="val 46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1946" y="5429845"/>
            <a:ext cx="207288" cy="2072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38618" y="50205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Loyalty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038618" y="5339358"/>
            <a:ext cx="436816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Fostering devotion through personalized experiences, exclusive loyalty programs, and vibrant ownership communities.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964918" y="6190178"/>
            <a:ext cx="4515564" cy="7620"/>
          </a:xfrm>
          <a:prstGeom prst="roundRect">
            <a:avLst>
              <a:gd name="adj" fmla="val 81268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3076218" y="6267688"/>
            <a:ext cx="4238982" cy="1320879"/>
          </a:xfrm>
          <a:prstGeom prst="roundRect">
            <a:avLst>
              <a:gd name="adj" fmla="val 46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92065" y="6824424"/>
            <a:ext cx="207288" cy="2072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62599" y="641508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Retention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462599" y="6733937"/>
            <a:ext cx="394418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Implementing robust service programs and engaging digital platforms to ensure long-term customer relationships and repeat business.</a:t>
            </a:r>
            <a:endParaRPr lang="en-US" sz="11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D12118-0DFA-1184-7ACE-6628B1C06BA1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611" y="653296"/>
            <a:ext cx="7469624" cy="408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Management Practices Supporting CRM at Ford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3554611" y="1323618"/>
            <a:ext cx="523161" cy="784741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8084" y="1617940"/>
            <a:ext cx="196096" cy="196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8502" y="1454348"/>
            <a:ext cx="231409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Customer-Centric Leadership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08502" y="1737122"/>
            <a:ext cx="6867287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Ford's leadership instills a culture where customer needs are at the forefront of every decision and strategy.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54611" y="2239089"/>
            <a:ext cx="523161" cy="962858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8084" y="2622471"/>
            <a:ext cx="196096" cy="196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8502" y="2369820"/>
            <a:ext cx="2231350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Cross-Functional Alignment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208502" y="2652593"/>
            <a:ext cx="6867287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Seamless coordination across sales, service, IT, and marketing ensures a unified approach to the customer journey.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54611" y="3332678"/>
            <a:ext cx="523161" cy="962858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8084" y="3716060"/>
            <a:ext cx="196096" cy="196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8502" y="3463409"/>
            <a:ext cx="2275880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Centralized Data Governance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208502" y="3746183"/>
            <a:ext cx="6867287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 management of customer data ensures accuracy, privacy, and accessibility across the enterprise for personalized interactions.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554611" y="4426268"/>
            <a:ext cx="523161" cy="962858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18084" y="4809649"/>
            <a:ext cx="196096" cy="1960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08502" y="4556998"/>
            <a:ext cx="2202775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Feedback Loops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208502" y="4839772"/>
            <a:ext cx="6867287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Programs for gathering and acting on customer feedback drive continuous improvement in products and services.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554611" y="5519857"/>
            <a:ext cx="523161" cy="962858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18084" y="5903238"/>
            <a:ext cx="196096" cy="1960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8502" y="5650587"/>
            <a:ext cx="1685925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CRM-Driven Strategy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208502" y="5933361"/>
            <a:ext cx="6867287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Analytics from CRM inform product design, service offerings, and overall strategic direction, ensuring market relevance.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554611" y="6613446"/>
            <a:ext cx="523161" cy="962858"/>
          </a:xfrm>
          <a:prstGeom prst="roundRect">
            <a:avLst>
              <a:gd name="adj" fmla="val 36003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18084" y="6996827"/>
            <a:ext cx="196096" cy="1960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08502" y="6744176"/>
            <a:ext cx="2158008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Dealer Network Integration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208502" y="7026950"/>
            <a:ext cx="6867287" cy="4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extensive dealer network is fully aligned with CRM objectives, acting as a crucial touchpoint for customer engagement.</a:t>
            </a:r>
            <a:endParaRPr lang="en-US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367440-6A81-6BFC-3D7B-9A17AF727150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1532" y="683895"/>
            <a:ext cx="9187934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Operations &amp; CRM Integration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1781532" y="1670209"/>
            <a:ext cx="3560802" cy="2995493"/>
          </a:xfrm>
          <a:prstGeom prst="roundRect">
            <a:avLst>
              <a:gd name="adj" fmla="val 366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758672" y="1670209"/>
            <a:ext cx="91440" cy="2995493"/>
          </a:xfrm>
          <a:prstGeom prst="roundRect">
            <a:avLst>
              <a:gd name="adj" fmla="val 8840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65377" y="1885474"/>
            <a:ext cx="306169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Lead Management &amp; Journey Tracking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065377" y="2602349"/>
            <a:ext cx="3061692" cy="154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 systems meticulously track leads from initial interest through purchase and beyond, ensuring no customer falls through the cracks.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34739" y="1670209"/>
            <a:ext cx="3560802" cy="2995493"/>
          </a:xfrm>
          <a:prstGeom prst="roundRect">
            <a:avLst>
              <a:gd name="adj" fmla="val 366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511879" y="1670209"/>
            <a:ext cx="91440" cy="2995493"/>
          </a:xfrm>
          <a:prstGeom prst="roundRect">
            <a:avLst>
              <a:gd name="adj" fmla="val 8840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818584" y="1885474"/>
            <a:ext cx="306169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Personalized Marketing Campaigns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818584" y="2602349"/>
            <a:ext cx="3061692" cy="154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Utilizing CRM analytics, Ford crafts highly targeted marketing campaigns that resonate with individual customer preferences and behaviors.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87947" y="1670209"/>
            <a:ext cx="3560921" cy="2995493"/>
          </a:xfrm>
          <a:prstGeom prst="roundRect">
            <a:avLst>
              <a:gd name="adj" fmla="val 366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265087" y="1670209"/>
            <a:ext cx="91440" cy="2995493"/>
          </a:xfrm>
          <a:prstGeom prst="roundRect">
            <a:avLst>
              <a:gd name="adj" fmla="val 8840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571792" y="1885474"/>
            <a:ext cx="3061811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Comprehensive Service Management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571792" y="2602349"/>
            <a:ext cx="3061811" cy="1848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Service CRM handles everything from routine maintenance scheduling and warranty management to recall notifications and customer feedback.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81532" y="4858107"/>
            <a:ext cx="3560802" cy="2687479"/>
          </a:xfrm>
          <a:prstGeom prst="roundRect">
            <a:avLst>
              <a:gd name="adj" fmla="val 408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758672" y="4858107"/>
            <a:ext cx="91440" cy="2687479"/>
          </a:xfrm>
          <a:prstGeom prst="roundRect">
            <a:avLst>
              <a:gd name="adj" fmla="val 8840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65377" y="5073372"/>
            <a:ext cx="306169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Seamless Online &amp; Dealership Experience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2065377" y="5790247"/>
            <a:ext cx="3061692" cy="154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 integrates digital platforms with physical dealerships, creating a cohesive and convenient customer experience regardless of the touchpoint.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34739" y="4858107"/>
            <a:ext cx="3560802" cy="2687479"/>
          </a:xfrm>
          <a:prstGeom prst="roundRect">
            <a:avLst>
              <a:gd name="adj" fmla="val 408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11879" y="4858107"/>
            <a:ext cx="91440" cy="2687479"/>
          </a:xfrm>
          <a:prstGeom prst="roundRect">
            <a:avLst>
              <a:gd name="adj" fmla="val 8840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818584" y="5073372"/>
            <a:ext cx="306169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Proactive Engagement Workflows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5818584" y="5790247"/>
            <a:ext cx="3061692" cy="154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Automated workflows enable proactive service notifications and timely customer engagement, anticipating needs before they arise.</a:t>
            </a:r>
            <a:endParaRPr lang="en-US" sz="1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94596B-E980-FF25-633C-410F0E5F07E2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869" y="488513"/>
            <a:ext cx="6494978" cy="432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Products &amp; Services Supported by CRM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869" y="1198245"/>
            <a:ext cx="1860828" cy="1150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33869" y="2486739"/>
            <a:ext cx="1860828" cy="43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Diverse Vehicle Lineup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333869" y="3002399"/>
            <a:ext cx="1860828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passenger vehicles and robust SUVs to powerful trucks and innovative electric vehicles, CRM supports every sale.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695" y="1198245"/>
            <a:ext cx="1860947" cy="1150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7695" y="2486858"/>
            <a:ext cx="1860947" cy="43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Commercial &amp; Fleet Solutions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367695" y="3002518"/>
            <a:ext cx="1860947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Tailored CRM strategies for business clients, managing large-scale fleet operations and specialized commercial needs.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639" y="1198245"/>
            <a:ext cx="1860947" cy="11501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01639" y="2486858"/>
            <a:ext cx="1860947" cy="43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Digital Ownership Platforms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401639" y="3002518"/>
            <a:ext cx="1860947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 apps and online portals provide seamless access to vehicle data, services, and exclusive content, enhancing the ownership experience.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584" y="1198245"/>
            <a:ext cx="1860947" cy="11501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35584" y="2486858"/>
            <a:ext cx="1860947" cy="43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After-Sales Service &amp; Connected Services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35584" y="3002518"/>
            <a:ext cx="1860947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CRM ensures efficient after-sales support, maintenance reminders, and personalized connected services for optimal vehicle performance.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869" y="4608195"/>
            <a:ext cx="1860828" cy="115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33869" y="5896689"/>
            <a:ext cx="1860828" cy="432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Financial &amp; Loyalty Initiatives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333869" y="6412349"/>
            <a:ext cx="1860828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 financing, insurance products, and exclusive loyalty programs are managed through CRM to retain and reward customers.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E3F2C2-709B-E653-4B03-A741AA94A166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2817" y="548283"/>
            <a:ext cx="11464647" cy="124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Conclusion: The Profound Impact of CRM at Ford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881783" y="2417326"/>
            <a:ext cx="1116568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CRM is more than just a system at Ford; it's the strategic foundation underpinning every customer interaction and the cornerstone of our future growth.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82817" y="2193131"/>
            <a:ext cx="22860" cy="1086564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82817" y="3503890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Strategic Foundation: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CRM is deeply embedded in Ford’s operations, guiding customer-centric decisions from product development to service delivery.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582817" y="4211836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Strengthened Relationships: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It significantly enhances customer retention, cultivates fierce loyalty, and drives unparalleled satisfaction levels.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82817" y="4919782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Personalization &amp; Proactive Engagement: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CRM enables highly personalized experiences and proactive interactions, anticipating and fulfilling customer needs.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82817" y="5627727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Increased Lifetime Value: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By fostering deeper connections, CRM maximizes customer lifetime value and transforms customers into brand advocates.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82817" y="6335673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Customer-Centric Leadership: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This approach firmly positions Ford as a leader in the automotive industry, known for its dedication to customer excellence.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82816" y="7043142"/>
            <a:ext cx="114646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Sustainable Growth:</a:t>
            </a: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Ultimately, CRM supports sustainable growth and builds enduring customer equity, securing Ford’s success in a dynamic market.</a:t>
            </a:r>
            <a:endParaRPr lang="en-US" sz="1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CC7400-D0BA-4E19-A34C-905861987B00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9226A-B421-C330-465C-8A14617E9023}"/>
              </a:ext>
            </a:extLst>
          </p:cNvPr>
          <p:cNvSpPr txBox="1"/>
          <p:nvPr/>
        </p:nvSpPr>
        <p:spPr>
          <a:xfrm>
            <a:off x="3314928" y="1581924"/>
            <a:ext cx="8710863" cy="464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732394-D6A2-EE53-A32A-659E6518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73" y="2003487"/>
            <a:ext cx="1365725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Daphni Michelle B (22MIA1159):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Handled company background research and CRM evolution at Ford.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Sree Darshne J (22MIA1167):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slides, summarized findings, and refined the presentation.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Haripriya </a:t>
            </a:r>
            <a:r>
              <a:rPr kumimoji="0" lang="en-US" altLang="en-US" sz="2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 N (</a:t>
            </a:r>
            <a:r>
              <a:rPr kumimoji="0" lang="en-US" altLang="en-US" sz="2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22MIA1181):</a:t>
            </a:r>
            <a:r>
              <a:rPr lang="en-US" altLang="en-US" sz="2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CRM technologies, analytics, and business integration.</a:t>
            </a:r>
            <a:endParaRPr kumimoji="0" lang="en-US" altLang="en-US" sz="2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Sujana S (22MIA1142):</a:t>
            </a:r>
            <a:r>
              <a:rPr lang="en-US" altLang="en-US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to CRM concepts, objectives, and overall content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974018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6C1786-13EE-1465-1A55-F1F0D8C019F5}"/>
              </a:ext>
            </a:extLst>
          </p:cNvPr>
          <p:cNvSpPr/>
          <p:nvPr/>
        </p:nvSpPr>
        <p:spPr>
          <a:xfrm>
            <a:off x="12597062" y="7784432"/>
            <a:ext cx="2033337" cy="445168"/>
          </a:xfrm>
          <a:prstGeom prst="rect">
            <a:avLst/>
          </a:prstGeom>
          <a:solidFill>
            <a:srgbClr val="09151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F3D15-5257-3EB9-B872-9D1354152266}"/>
              </a:ext>
            </a:extLst>
          </p:cNvPr>
          <p:cNvSpPr txBox="1"/>
          <p:nvPr/>
        </p:nvSpPr>
        <p:spPr>
          <a:xfrm>
            <a:off x="2687444" y="3133492"/>
            <a:ext cx="100472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79415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1351</Words>
  <Application>Microsoft Office PowerPoint</Application>
  <PresentationFormat>Custom</PresentationFormat>
  <Paragraphs>134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Times New Roman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Sree Darshne J</cp:lastModifiedBy>
  <cp:revision>6</cp:revision>
  <dcterms:created xsi:type="dcterms:W3CDTF">2026-01-09T08:24:40Z</dcterms:created>
  <dcterms:modified xsi:type="dcterms:W3CDTF">2026-02-03T10:42:29Z</dcterms:modified>
</cp:coreProperties>
</file>