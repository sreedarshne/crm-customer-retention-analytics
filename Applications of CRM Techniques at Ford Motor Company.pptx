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embeddedFontLst>
    <p:embeddedFont>
      <p:font typeface="Inte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09600"/>
            <a:ext cx="609600" cy="38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638675"/>
            <a:ext cx="8534400" cy="3429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762000" y="876300"/>
            <a:ext cx="1066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spc="36" kern="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RELATIONSHIP MANAGEMENT</a:t>
            </a:r>
            <a:endParaRPr lang="en-US" sz="1800" dirty="0"/>
          </a:p>
        </p:txBody>
      </p:sp>
      <p:sp>
        <p:nvSpPr>
          <p:cNvPr id="8" name="Text 1"/>
          <p:cNvSpPr/>
          <p:nvPr/>
        </p:nvSpPr>
        <p:spPr>
          <a:xfrm>
            <a:off x="762000" y="1838325"/>
            <a:ext cx="85344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6750"/>
              </a:lnSpc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Applications of </a:t>
            </a:r>
            <a:pPr indent="0" marL="0">
              <a:lnSpc>
                <a:spcPts val="6750"/>
              </a:lnSpc>
              <a:buNone/>
            </a:pPr>
            <a:r>
              <a:rPr lang="en-US" sz="5400" b="1" spc="-108" kern="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Techniques</a:t>
            </a:r>
            <a:pPr indent="0" marL="0">
              <a:lnSpc>
                <a:spcPts val="6750"/>
              </a:lnSpc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ts val="6750"/>
              </a:lnSpc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Ford Motor Company</a:t>
            </a:r>
            <a:endParaRPr lang="en-US" sz="5400" dirty="0"/>
          </a:p>
        </p:txBody>
      </p:sp>
      <p:sp>
        <p:nvSpPr>
          <p:cNvPr id="9" name="Text 2"/>
          <p:cNvSpPr/>
          <p:nvPr/>
        </p:nvSpPr>
        <p:spPr>
          <a:xfrm>
            <a:off x="990600" y="4638675"/>
            <a:ext cx="11201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Relationship Management Project</a:t>
            </a:r>
            <a:endParaRPr lang="en-US" sz="2250" dirty="0"/>
          </a:p>
        </p:txBody>
      </p:sp>
      <p:sp>
        <p:nvSpPr>
          <p:cNvPr id="10" name="Text 3"/>
          <p:cNvSpPr/>
          <p:nvPr/>
        </p:nvSpPr>
        <p:spPr>
          <a:xfrm>
            <a:off x="762000" y="56388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84" kern="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1" name="Text 4"/>
          <p:cNvSpPr/>
          <p:nvPr/>
        </p:nvSpPr>
        <p:spPr>
          <a:xfrm>
            <a:off x="762000" y="5981700"/>
            <a:ext cx="1828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Sujana S</a:t>
            </a:r>
            <a:endParaRPr lang="en-US" sz="1500" dirty="0"/>
          </a:p>
        </p:txBody>
      </p:sp>
      <p:sp>
        <p:nvSpPr>
          <p:cNvPr id="12" name="Text 5"/>
          <p:cNvSpPr/>
          <p:nvPr/>
        </p:nvSpPr>
        <p:spPr>
          <a:xfrm>
            <a:off x="1857375" y="598170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Daphni Michelle B</a:t>
            </a:r>
            <a:endParaRPr lang="en-US" sz="1500" dirty="0"/>
          </a:p>
        </p:txBody>
      </p:sp>
      <p:sp>
        <p:nvSpPr>
          <p:cNvPr id="13" name="Text 6"/>
          <p:cNvSpPr/>
          <p:nvPr/>
        </p:nvSpPr>
        <p:spPr>
          <a:xfrm>
            <a:off x="3790950" y="5981700"/>
            <a:ext cx="3200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Sree Darshne J</a:t>
            </a:r>
            <a:endParaRPr lang="en-US" sz="1500" dirty="0"/>
          </a:p>
        </p:txBody>
      </p:sp>
      <p:sp>
        <p:nvSpPr>
          <p:cNvPr id="14" name="Text 7"/>
          <p:cNvSpPr/>
          <p:nvPr/>
        </p:nvSpPr>
        <p:spPr>
          <a:xfrm>
            <a:off x="5505450" y="5981700"/>
            <a:ext cx="2971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Haripriya T N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7726561" y="6248400"/>
            <a:ext cx="40082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00" b="1" spc="216" kern="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FORD MOTOR COMPANY | CRM ANALYSIS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1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1" cy="114020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7120" y="341511"/>
            <a:ext cx="402425" cy="45718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425" y="3058800"/>
            <a:ext cx="3583316" cy="97252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103" y="3252284"/>
            <a:ext cx="192829" cy="18313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6954" y="3058800"/>
            <a:ext cx="3583316" cy="97252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4631" y="3252284"/>
            <a:ext cx="192829" cy="18313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2425" y="4232541"/>
            <a:ext cx="3583316" cy="97252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0103" y="4426025"/>
            <a:ext cx="192829" cy="18313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86954" y="4232541"/>
            <a:ext cx="3583316" cy="972528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54631" y="4424715"/>
            <a:ext cx="234748" cy="18575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2425" y="5860059"/>
            <a:ext cx="7367844" cy="603638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6567" y="6089960"/>
            <a:ext cx="134142" cy="14370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05624" y="1542631"/>
            <a:ext cx="3683922" cy="4552307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05624" y="1542631"/>
            <a:ext cx="3683922" cy="4552307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02425" y="268284"/>
            <a:ext cx="11789575" cy="3353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641"/>
              </a:lnSpc>
              <a:buNone/>
            </a:pPr>
            <a:r>
              <a:rPr lang="en-US" sz="2700" b="1" spc="-6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Introduction: Modern CRM Practices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402425" y="637174"/>
            <a:ext cx="9817227" cy="2347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48"/>
              </a:lnSpc>
              <a:buNone/>
            </a:pPr>
            <a:r>
              <a:rPr lang="en-US" sz="135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Approach to Customer Interaction</a:t>
            </a:r>
            <a:endParaRPr lang="en-US" sz="1350" dirty="0"/>
          </a:p>
        </p:txBody>
      </p:sp>
      <p:sp>
        <p:nvSpPr>
          <p:cNvPr id="19" name="Text 2"/>
          <p:cNvSpPr/>
          <p:nvPr/>
        </p:nvSpPr>
        <p:spPr>
          <a:xfrm>
            <a:off x="402425" y="1542631"/>
            <a:ext cx="7367844" cy="92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38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Relationship Management (CRM) is a strategic approach to managing interactions with current and potential customers to maximize long-term brand health.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863538" y="3226477"/>
            <a:ext cx="4207383" cy="2347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48"/>
              </a:lnSpc>
              <a:buNone/>
            </a:pPr>
            <a:r>
              <a:rPr lang="en-US" sz="135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Retention</a:t>
            </a:r>
            <a:endParaRPr lang="en-US" sz="1350" dirty="0"/>
          </a:p>
        </p:txBody>
      </p:sp>
      <p:sp>
        <p:nvSpPr>
          <p:cNvPr id="21" name="Text 4"/>
          <p:cNvSpPr/>
          <p:nvPr/>
        </p:nvSpPr>
        <p:spPr>
          <a:xfrm>
            <a:off x="570103" y="3528297"/>
            <a:ext cx="3247961" cy="3353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2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Strategies to keep existing customers engaged and reduce churn rates through proactive service.</a:t>
            </a:r>
            <a:endParaRPr lang="en-US" sz="1050" dirty="0"/>
          </a:p>
        </p:txBody>
      </p:sp>
      <p:sp>
        <p:nvSpPr>
          <p:cNvPr id="22" name="Text 5"/>
          <p:cNvSpPr/>
          <p:nvPr/>
        </p:nvSpPr>
        <p:spPr>
          <a:xfrm>
            <a:off x="4648066" y="3226477"/>
            <a:ext cx="3739896" cy="2347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48"/>
              </a:lnSpc>
              <a:buNone/>
            </a:pPr>
            <a:r>
              <a:rPr lang="en-US" sz="135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Loyalty</a:t>
            </a:r>
            <a:endParaRPr lang="en-US" sz="1350" dirty="0"/>
          </a:p>
        </p:txBody>
      </p:sp>
      <p:sp>
        <p:nvSpPr>
          <p:cNvPr id="23" name="Text 6"/>
          <p:cNvSpPr/>
          <p:nvPr/>
        </p:nvSpPr>
        <p:spPr>
          <a:xfrm>
            <a:off x="4354631" y="3528297"/>
            <a:ext cx="3247961" cy="3353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2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long-term relationships through consistent value and personalized rewards programs.</a:t>
            </a:r>
            <a:endParaRPr lang="en-US" sz="1050" dirty="0"/>
          </a:p>
        </p:txBody>
      </p:sp>
      <p:sp>
        <p:nvSpPr>
          <p:cNvPr id="24" name="Text 7"/>
          <p:cNvSpPr/>
          <p:nvPr/>
        </p:nvSpPr>
        <p:spPr>
          <a:xfrm>
            <a:off x="863538" y="4400218"/>
            <a:ext cx="3506153" cy="2347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48"/>
              </a:lnSpc>
              <a:buNone/>
            </a:pPr>
            <a:r>
              <a:rPr lang="en-US" sz="135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Equity</a:t>
            </a:r>
            <a:endParaRPr lang="en-US" sz="1350" dirty="0"/>
          </a:p>
        </p:txBody>
      </p:sp>
      <p:sp>
        <p:nvSpPr>
          <p:cNvPr id="25" name="Text 8"/>
          <p:cNvSpPr/>
          <p:nvPr/>
        </p:nvSpPr>
        <p:spPr>
          <a:xfrm>
            <a:off x="570103" y="4702037"/>
            <a:ext cx="3247961" cy="3353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2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sum of lifetime values of all customers; a key metric for sustainable growth and brand health.</a:t>
            </a:r>
            <a:endParaRPr lang="en-US" sz="1050" dirty="0"/>
          </a:p>
        </p:txBody>
      </p:sp>
      <p:sp>
        <p:nvSpPr>
          <p:cNvPr id="26" name="Text 9"/>
          <p:cNvSpPr/>
          <p:nvPr/>
        </p:nvSpPr>
        <p:spPr>
          <a:xfrm>
            <a:off x="4689986" y="4400218"/>
            <a:ext cx="5142357" cy="2347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48"/>
              </a:lnSpc>
              <a:buNone/>
            </a:pPr>
            <a:r>
              <a:rPr lang="en-US" sz="135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 Marketing</a:t>
            </a:r>
            <a:endParaRPr lang="en-US" sz="1350" dirty="0"/>
          </a:p>
        </p:txBody>
      </p:sp>
      <p:sp>
        <p:nvSpPr>
          <p:cNvPr id="27" name="Text 10"/>
          <p:cNvSpPr/>
          <p:nvPr/>
        </p:nvSpPr>
        <p:spPr>
          <a:xfrm>
            <a:off x="4354631" y="4702037"/>
            <a:ext cx="3247961" cy="3353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2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Focuses on nurturing ongoing relationships rather than one-time transactional interactions.</a:t>
            </a:r>
            <a:endParaRPr lang="en-US" sz="1050" dirty="0"/>
          </a:p>
        </p:txBody>
      </p:sp>
      <p:sp>
        <p:nvSpPr>
          <p:cNvPr id="28" name="Text 11"/>
          <p:cNvSpPr/>
          <p:nvPr/>
        </p:nvSpPr>
        <p:spPr>
          <a:xfrm>
            <a:off x="804851" y="5994200"/>
            <a:ext cx="6831277" cy="3353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2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Modern Edge:</a:t>
            </a:r>
            <a:pPr indent="0" marL="0">
              <a:lnSpc>
                <a:spcPts val="132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Leveraging AI, Big Data analytics, and Omni-channel communication to deliver personalized experiences at scale.</a:t>
            </a:r>
            <a:endParaRPr lang="en-US" sz="1050" dirty="0"/>
          </a:p>
        </p:txBody>
      </p:sp>
      <p:sp>
        <p:nvSpPr>
          <p:cNvPr id="29" name="Text 12"/>
          <p:cNvSpPr/>
          <p:nvPr/>
        </p:nvSpPr>
        <p:spPr>
          <a:xfrm>
            <a:off x="8105624" y="6296151"/>
            <a:ext cx="3683922" cy="1676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320"/>
              </a:lnSpc>
              <a:buNone/>
            </a:pPr>
            <a:r>
              <a:rPr lang="en-US" sz="1050" b="1" i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"Building Enduring Relationships"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2" cy="103892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69" y="1272637"/>
            <a:ext cx="3713381" cy="128541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3099" y="1447922"/>
            <a:ext cx="248319" cy="28643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9234" y="1272637"/>
            <a:ext cx="3713380" cy="128541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5246" y="1447922"/>
            <a:ext cx="321355" cy="29214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7899" y="1272637"/>
            <a:ext cx="3713495" cy="128541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569" y="2795420"/>
            <a:ext cx="226409" cy="226409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0569" y="4060183"/>
            <a:ext cx="58428" cy="58428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0569" y="4439966"/>
            <a:ext cx="58428" cy="58428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1994" y="2794964"/>
            <a:ext cx="167981" cy="22720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1994" y="3142337"/>
            <a:ext cx="5599399" cy="1051706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8065" y="3697404"/>
            <a:ext cx="116856" cy="116856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00065" y="3697404"/>
            <a:ext cx="116856" cy="116856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88065" y="3931117"/>
            <a:ext cx="116856" cy="116856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00065" y="3931117"/>
            <a:ext cx="116856" cy="116856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0569" y="4907391"/>
            <a:ext cx="11490825" cy="1168562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6395825"/>
            <a:ext cx="12191962" cy="462175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50569" y="279359"/>
            <a:ext cx="11841431" cy="29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300"/>
              </a:lnSpc>
              <a:buNone/>
            </a:pPr>
            <a:r>
              <a:rPr lang="en-US" sz="2700" b="1" spc="-7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Profile: Ford Motor Company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350569" y="600714"/>
            <a:ext cx="8854535" cy="20449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10"/>
              </a:lnSpc>
              <a:buNone/>
            </a:pPr>
            <a:r>
              <a:rPr lang="en-US" sz="1350" i="1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Pioneering the Future of Mobility</a:t>
            </a:r>
            <a:endParaRPr lang="en-US" sz="1350" dirty="0"/>
          </a:p>
        </p:txBody>
      </p:sp>
      <p:sp>
        <p:nvSpPr>
          <p:cNvPr id="22" name="Text 2"/>
          <p:cNvSpPr/>
          <p:nvPr/>
        </p:nvSpPr>
        <p:spPr>
          <a:xfrm>
            <a:off x="10271138" y="233712"/>
            <a:ext cx="192086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4500"/>
              </a:lnSpc>
              <a:buNone/>
            </a:pPr>
            <a:r>
              <a:rPr lang="en-US" sz="4500" b="1" i="1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FORD</a:t>
            </a:r>
            <a:endParaRPr lang="en-US" sz="4500" dirty="0"/>
          </a:p>
        </p:txBody>
      </p:sp>
      <p:sp>
        <p:nvSpPr>
          <p:cNvPr id="23" name="Text 3"/>
          <p:cNvSpPr/>
          <p:nvPr/>
        </p:nvSpPr>
        <p:spPr>
          <a:xfrm>
            <a:off x="1835579" y="1821999"/>
            <a:ext cx="743361" cy="14607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50" b="1" spc="11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FOUNDED</a:t>
            </a:r>
            <a:endParaRPr lang="en-US" sz="1050" dirty="0"/>
          </a:p>
        </p:txBody>
      </p:sp>
      <p:sp>
        <p:nvSpPr>
          <p:cNvPr id="24" name="Text 4"/>
          <p:cNvSpPr/>
          <p:nvPr/>
        </p:nvSpPr>
        <p:spPr>
          <a:xfrm>
            <a:off x="1856690" y="1968069"/>
            <a:ext cx="701137" cy="2629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70"/>
              </a:lnSpc>
              <a:buNone/>
            </a:pPr>
            <a:r>
              <a:rPr lang="en-US" sz="225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1903</a:t>
            </a:r>
            <a:endParaRPr lang="en-US" sz="2250" dirty="0"/>
          </a:p>
        </p:txBody>
      </p:sp>
      <p:sp>
        <p:nvSpPr>
          <p:cNvPr id="25" name="Text 5"/>
          <p:cNvSpPr/>
          <p:nvPr/>
        </p:nvSpPr>
        <p:spPr>
          <a:xfrm>
            <a:off x="1509773" y="2260209"/>
            <a:ext cx="1394971" cy="1168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2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Henry Ford | Dearborn, MI</a:t>
            </a:r>
            <a:endParaRPr lang="en-US" sz="900" dirty="0"/>
          </a:p>
        </p:txBody>
      </p:sp>
      <p:sp>
        <p:nvSpPr>
          <p:cNvPr id="26" name="Text 6"/>
          <p:cNvSpPr/>
          <p:nvPr/>
        </p:nvSpPr>
        <p:spPr>
          <a:xfrm>
            <a:off x="5447509" y="1827704"/>
            <a:ext cx="1296830" cy="14607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50" b="1" spc="11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(2023)</a:t>
            </a:r>
            <a:endParaRPr lang="en-US" sz="1050" dirty="0"/>
          </a:p>
        </p:txBody>
      </p:sp>
      <p:sp>
        <p:nvSpPr>
          <p:cNvPr id="27" name="Text 7"/>
          <p:cNvSpPr/>
          <p:nvPr/>
        </p:nvSpPr>
        <p:spPr>
          <a:xfrm>
            <a:off x="5285234" y="1973775"/>
            <a:ext cx="1621380" cy="2629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70"/>
              </a:lnSpc>
              <a:buNone/>
            </a:pPr>
            <a:r>
              <a:rPr lang="en-US" sz="225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 Billion</a:t>
            </a:r>
            <a:endParaRPr lang="en-US" sz="2250" dirty="0"/>
          </a:p>
        </p:txBody>
      </p:sp>
      <p:sp>
        <p:nvSpPr>
          <p:cNvPr id="28" name="Text 8"/>
          <p:cNvSpPr/>
          <p:nvPr/>
        </p:nvSpPr>
        <p:spPr>
          <a:xfrm>
            <a:off x="5442260" y="2265915"/>
            <a:ext cx="1307329" cy="1168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2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Fortune 500 Recognition</a:t>
            </a:r>
            <a:endParaRPr lang="en-US" sz="900" dirty="0"/>
          </a:p>
        </p:txBody>
      </p:sp>
      <p:sp>
        <p:nvSpPr>
          <p:cNvPr id="29" name="Text 9"/>
          <p:cNvSpPr/>
          <p:nvPr/>
        </p:nvSpPr>
        <p:spPr>
          <a:xfrm>
            <a:off x="9158493" y="1535564"/>
            <a:ext cx="1652192" cy="14607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50" b="1" spc="11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WORKFORCE</a:t>
            </a:r>
            <a:endParaRPr lang="en-US" sz="1050" dirty="0"/>
          </a:p>
        </p:txBody>
      </p:sp>
      <p:sp>
        <p:nvSpPr>
          <p:cNvPr id="30" name="Text 10"/>
          <p:cNvSpPr/>
          <p:nvPr/>
        </p:nvSpPr>
        <p:spPr>
          <a:xfrm>
            <a:off x="9327273" y="1681634"/>
            <a:ext cx="1314633" cy="2629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70"/>
              </a:lnSpc>
              <a:buNone/>
            </a:pPr>
            <a:r>
              <a:rPr lang="en-US" sz="225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177,000+</a:t>
            </a:r>
            <a:endParaRPr lang="en-US" sz="2250" dirty="0"/>
          </a:p>
        </p:txBody>
      </p:sp>
      <p:sp>
        <p:nvSpPr>
          <p:cNvPr id="31" name="Text 11"/>
          <p:cNvSpPr/>
          <p:nvPr/>
        </p:nvSpPr>
        <p:spPr>
          <a:xfrm>
            <a:off x="9385701" y="1973775"/>
            <a:ext cx="1197776" cy="1168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2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Employees Worldwide</a:t>
            </a:r>
            <a:endParaRPr lang="en-US" sz="900" dirty="0"/>
          </a:p>
        </p:txBody>
      </p:sp>
      <p:sp>
        <p:nvSpPr>
          <p:cNvPr id="32" name="Text 12"/>
          <p:cNvSpPr/>
          <p:nvPr/>
        </p:nvSpPr>
        <p:spPr>
          <a:xfrm>
            <a:off x="664620" y="2791768"/>
            <a:ext cx="6797421" cy="23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40"/>
              </a:lnSpc>
              <a:buNone/>
            </a:pPr>
            <a:r>
              <a:rPr lang="en-US" sz="180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Strategic Pivot</a:t>
            </a:r>
            <a:endParaRPr lang="en-US" sz="1800" dirty="0"/>
          </a:p>
        </p:txBody>
      </p:sp>
      <p:sp>
        <p:nvSpPr>
          <p:cNvPr id="33" name="Text 13"/>
          <p:cNvSpPr/>
          <p:nvPr/>
        </p:nvSpPr>
        <p:spPr>
          <a:xfrm>
            <a:off x="350569" y="3142337"/>
            <a:ext cx="5599285" cy="74256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Transitioning from a traditional automaker to a </a:t>
            </a:r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customer-focused mobility company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Ford is aggressively investing in the </a:t>
            </a:r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Ford+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restructuring plan to separate business units:</a:t>
            </a:r>
            <a:endParaRPr lang="en-US" sz="1200" dirty="0"/>
          </a:p>
        </p:txBody>
      </p:sp>
      <p:sp>
        <p:nvSpPr>
          <p:cNvPr id="34" name="Text 14"/>
          <p:cNvSpPr/>
          <p:nvPr/>
        </p:nvSpPr>
        <p:spPr>
          <a:xfrm>
            <a:off x="496639" y="4001755"/>
            <a:ext cx="5453215" cy="29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Ford Blue:</a:t>
            </a:r>
            <a:pPr algn="l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Optimizing the iconic ICE (Internal Combustion Engine) portfolio including the legendary F-Series.</a:t>
            </a:r>
            <a:endParaRPr lang="en-US" sz="1050" dirty="0"/>
          </a:p>
        </p:txBody>
      </p:sp>
      <p:sp>
        <p:nvSpPr>
          <p:cNvPr id="35" name="Text 15"/>
          <p:cNvSpPr/>
          <p:nvPr/>
        </p:nvSpPr>
        <p:spPr>
          <a:xfrm>
            <a:off x="496639" y="4381538"/>
            <a:ext cx="5453215" cy="29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Ford Model e:</a:t>
            </a:r>
            <a:pPr algn="l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Scaling high-growth electric vehicles and software-driven digital ecosystems.</a:t>
            </a:r>
            <a:endParaRPr lang="en-US" sz="1050" dirty="0"/>
          </a:p>
        </p:txBody>
      </p:sp>
      <p:sp>
        <p:nvSpPr>
          <p:cNvPr id="36" name="Text 16"/>
          <p:cNvSpPr/>
          <p:nvPr/>
        </p:nvSpPr>
        <p:spPr>
          <a:xfrm>
            <a:off x="6497617" y="2791768"/>
            <a:ext cx="5694383" cy="23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40"/>
              </a:lnSpc>
              <a:buNone/>
            </a:pPr>
            <a:r>
              <a:rPr lang="en-US" sz="180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Innovation</a:t>
            </a:r>
            <a:endParaRPr lang="en-US" sz="1800" dirty="0"/>
          </a:p>
        </p:txBody>
      </p:sp>
      <p:sp>
        <p:nvSpPr>
          <p:cNvPr id="37" name="Text 17"/>
          <p:cNvSpPr/>
          <p:nvPr/>
        </p:nvSpPr>
        <p:spPr>
          <a:xfrm>
            <a:off x="6388065" y="3288407"/>
            <a:ext cx="5307259" cy="29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0"/>
              </a:lnSpc>
              <a:buNone/>
            </a:pPr>
            <a:r>
              <a:rPr lang="en-US" sz="1050" i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"Focusing on connected vehicle technology and the FordPass digital ecosystem to redefine customer relationships."</a:t>
            </a:r>
            <a:endParaRPr lang="en-US" sz="1050" dirty="0"/>
          </a:p>
        </p:txBody>
      </p:sp>
      <p:sp>
        <p:nvSpPr>
          <p:cNvPr id="38" name="Text 18"/>
          <p:cNvSpPr/>
          <p:nvPr/>
        </p:nvSpPr>
        <p:spPr>
          <a:xfrm>
            <a:off x="6563349" y="3697404"/>
            <a:ext cx="2595144" cy="1168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2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FORDPASS APP</a:t>
            </a:r>
            <a:endParaRPr lang="en-US" sz="900" dirty="0"/>
          </a:p>
        </p:txBody>
      </p:sp>
      <p:sp>
        <p:nvSpPr>
          <p:cNvPr id="39" name="Text 19"/>
          <p:cNvSpPr/>
          <p:nvPr/>
        </p:nvSpPr>
        <p:spPr>
          <a:xfrm>
            <a:off x="9275349" y="3697404"/>
            <a:ext cx="2595258" cy="1168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2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OTA UPDATES</a:t>
            </a:r>
            <a:endParaRPr lang="en-US" sz="900" dirty="0"/>
          </a:p>
        </p:txBody>
      </p:sp>
      <p:sp>
        <p:nvSpPr>
          <p:cNvPr id="40" name="Text 20"/>
          <p:cNvSpPr/>
          <p:nvPr/>
        </p:nvSpPr>
        <p:spPr>
          <a:xfrm>
            <a:off x="6563349" y="3931117"/>
            <a:ext cx="2595144" cy="1168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2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FORD CREDIT</a:t>
            </a:r>
            <a:endParaRPr lang="en-US" sz="900" dirty="0"/>
          </a:p>
        </p:txBody>
      </p:sp>
      <p:sp>
        <p:nvSpPr>
          <p:cNvPr id="41" name="Text 21"/>
          <p:cNvSpPr/>
          <p:nvPr/>
        </p:nvSpPr>
        <p:spPr>
          <a:xfrm>
            <a:off x="9275349" y="3931117"/>
            <a:ext cx="2595258" cy="1168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2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DATA</a:t>
            </a:r>
            <a:endParaRPr lang="en-US" sz="900" dirty="0"/>
          </a:p>
        </p:txBody>
      </p:sp>
      <p:sp>
        <p:nvSpPr>
          <p:cNvPr id="42" name="Text 22"/>
          <p:cNvSpPr/>
          <p:nvPr/>
        </p:nvSpPr>
        <p:spPr>
          <a:xfrm>
            <a:off x="584281" y="5389423"/>
            <a:ext cx="11607719" cy="20449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1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Leading the EV Revolution: F-150 Lightning &amp; Mustang Mach-E</a:t>
            </a:r>
            <a:endParaRPr lang="en-US" sz="1500" dirty="0"/>
          </a:p>
        </p:txBody>
      </p:sp>
      <p:sp>
        <p:nvSpPr>
          <p:cNvPr id="43" name="Text 23"/>
          <p:cNvSpPr/>
          <p:nvPr/>
        </p:nvSpPr>
        <p:spPr>
          <a:xfrm>
            <a:off x="350569" y="6568484"/>
            <a:ext cx="6260782" cy="1168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20"/>
              </a:lnSpc>
              <a:buNone/>
            </a:pPr>
            <a:r>
              <a:rPr lang="en-US" sz="900" b="1" spc="94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FORD MOTOR COMPANY | CRM CASE STUDY</a:t>
            </a:r>
            <a:endParaRPr lang="en-US" sz="900" dirty="0"/>
          </a:p>
        </p:txBody>
      </p:sp>
      <p:sp>
        <p:nvSpPr>
          <p:cNvPr id="44" name="Text 24"/>
          <p:cNvSpPr/>
          <p:nvPr/>
        </p:nvSpPr>
        <p:spPr>
          <a:xfrm>
            <a:off x="11636894" y="6512681"/>
            <a:ext cx="555106" cy="2284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562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608" y="2488406"/>
            <a:ext cx="390525" cy="381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3877" y="3098006"/>
            <a:ext cx="661988" cy="2667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5098" y="2488406"/>
            <a:ext cx="390525" cy="381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5080" y="3098006"/>
            <a:ext cx="690563" cy="2667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4401" y="2488406"/>
            <a:ext cx="342900" cy="3810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4857" y="3098006"/>
            <a:ext cx="661988" cy="2667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2754" y="2488406"/>
            <a:ext cx="257175" cy="3810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5585" y="3098006"/>
            <a:ext cx="671513" cy="2667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35382" y="2488406"/>
            <a:ext cx="342900" cy="3810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71075" y="3098006"/>
            <a:ext cx="671513" cy="2667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4400" y="4545806"/>
            <a:ext cx="10363200" cy="381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50690" y="4469606"/>
            <a:ext cx="190500" cy="1905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93865" y="4469606"/>
            <a:ext cx="190500" cy="1905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37040" y="4469606"/>
            <a:ext cx="190500" cy="1905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80215" y="4469606"/>
            <a:ext cx="190500" cy="1905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50810" y="4469606"/>
            <a:ext cx="190500" cy="1905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5510213"/>
            <a:ext cx="12192000" cy="1347788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7200" y="5815013"/>
            <a:ext cx="11277600" cy="738188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457200" y="38100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Evolution at Ford</a:t>
            </a:r>
            <a:endParaRPr lang="en-US" sz="3600" dirty="0"/>
          </a:p>
        </p:txBody>
      </p:sp>
      <p:sp>
        <p:nvSpPr>
          <p:cNvPr id="23" name="Text 1"/>
          <p:cNvSpPr/>
          <p:nvPr/>
        </p:nvSpPr>
        <p:spPr>
          <a:xfrm>
            <a:off x="457200" y="914400"/>
            <a:ext cx="1173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Transactional Dealer Systems to AI-Powered Mobility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1253877" y="3098006"/>
            <a:ext cx="4333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spc="42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1990S</a:t>
            </a:r>
            <a:endParaRPr lang="en-US" sz="1050" dirty="0"/>
          </a:p>
        </p:txBody>
      </p:sp>
      <p:sp>
        <p:nvSpPr>
          <p:cNvPr id="25" name="Text 3"/>
          <p:cNvSpPr/>
          <p:nvPr/>
        </p:nvSpPr>
        <p:spPr>
          <a:xfrm>
            <a:off x="699046" y="3479006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Dealer Systems</a:t>
            </a:r>
            <a:endParaRPr lang="en-US" sz="1350" dirty="0"/>
          </a:p>
        </p:txBody>
      </p:sp>
      <p:sp>
        <p:nvSpPr>
          <p:cNvPr id="26" name="Text 4"/>
          <p:cNvSpPr/>
          <p:nvPr/>
        </p:nvSpPr>
        <p:spPr>
          <a:xfrm>
            <a:off x="609600" y="3821906"/>
            <a:ext cx="19506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Localized data management and basic tools for dealer networks.</a:t>
            </a:r>
            <a:endParaRPr lang="en-US" sz="1050" dirty="0"/>
          </a:p>
        </p:txBody>
      </p:sp>
      <p:sp>
        <p:nvSpPr>
          <p:cNvPr id="27" name="Text 5"/>
          <p:cNvSpPr/>
          <p:nvPr/>
        </p:nvSpPr>
        <p:spPr>
          <a:xfrm>
            <a:off x="3495080" y="3098006"/>
            <a:ext cx="4619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spc="42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2000S</a:t>
            </a:r>
            <a:endParaRPr lang="en-US" sz="1050" dirty="0"/>
          </a:p>
        </p:txBody>
      </p:sp>
      <p:sp>
        <p:nvSpPr>
          <p:cNvPr id="28" name="Text 6"/>
          <p:cNvSpPr/>
          <p:nvPr/>
        </p:nvSpPr>
        <p:spPr>
          <a:xfrm>
            <a:off x="2978348" y="3479006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Financing</a:t>
            </a:r>
            <a:endParaRPr lang="en-US" sz="1350" dirty="0"/>
          </a:p>
        </p:txBody>
      </p:sp>
      <p:sp>
        <p:nvSpPr>
          <p:cNvPr id="29" name="Text 7"/>
          <p:cNvSpPr/>
          <p:nvPr/>
        </p:nvSpPr>
        <p:spPr>
          <a:xfrm>
            <a:off x="2865090" y="3821906"/>
            <a:ext cx="19506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Ford Credit integration &amp; Blue Oval customer service certification.</a:t>
            </a:r>
            <a:endParaRPr lang="en-US" sz="1050" dirty="0"/>
          </a:p>
        </p:txBody>
      </p:sp>
      <p:sp>
        <p:nvSpPr>
          <p:cNvPr id="30" name="Text 8"/>
          <p:cNvSpPr/>
          <p:nvPr/>
        </p:nvSpPr>
        <p:spPr>
          <a:xfrm>
            <a:off x="5764857" y="3098006"/>
            <a:ext cx="4333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spc="42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2010S</a:t>
            </a:r>
            <a:endParaRPr lang="en-US" sz="1050" dirty="0"/>
          </a:p>
        </p:txBody>
      </p:sp>
      <p:sp>
        <p:nvSpPr>
          <p:cNvPr id="31" name="Text 9"/>
          <p:cNvSpPr/>
          <p:nvPr/>
        </p:nvSpPr>
        <p:spPr>
          <a:xfrm>
            <a:off x="5419576" y="3479006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Channels</a:t>
            </a:r>
            <a:endParaRPr lang="en-US" sz="1350" dirty="0"/>
          </a:p>
        </p:txBody>
      </p:sp>
      <p:sp>
        <p:nvSpPr>
          <p:cNvPr id="32" name="Text 10"/>
          <p:cNvSpPr/>
          <p:nvPr/>
        </p:nvSpPr>
        <p:spPr>
          <a:xfrm>
            <a:off x="5120580" y="3821906"/>
            <a:ext cx="19506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configurators, customer portals, and marketing automation.</a:t>
            </a:r>
            <a:endParaRPr lang="en-US" sz="1050" dirty="0"/>
          </a:p>
        </p:txBody>
      </p:sp>
      <p:sp>
        <p:nvSpPr>
          <p:cNvPr id="33" name="Text 11"/>
          <p:cNvSpPr/>
          <p:nvPr/>
        </p:nvSpPr>
        <p:spPr>
          <a:xfrm>
            <a:off x="8015585" y="3098006"/>
            <a:ext cx="4429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spc="42" kern="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2016+</a:t>
            </a:r>
            <a:endParaRPr lang="en-US" sz="1050" dirty="0"/>
          </a:p>
        </p:txBody>
      </p:sp>
      <p:sp>
        <p:nvSpPr>
          <p:cNvPr id="34" name="Text 12"/>
          <p:cNvSpPr/>
          <p:nvPr/>
        </p:nvSpPr>
        <p:spPr>
          <a:xfrm>
            <a:off x="7479804" y="3479006"/>
            <a:ext cx="1743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FordPass Ecosystem</a:t>
            </a:r>
            <a:endParaRPr lang="en-US" sz="1350" dirty="0"/>
          </a:p>
        </p:txBody>
      </p:sp>
      <p:sp>
        <p:nvSpPr>
          <p:cNvPr id="35" name="Text 13"/>
          <p:cNvSpPr/>
          <p:nvPr/>
        </p:nvSpPr>
        <p:spPr>
          <a:xfrm>
            <a:off x="7376071" y="3821906"/>
            <a:ext cx="19506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vehicle services, remote features, and loyalty rewards.</a:t>
            </a:r>
            <a:endParaRPr lang="en-US" sz="1050" dirty="0"/>
          </a:p>
        </p:txBody>
      </p:sp>
      <p:sp>
        <p:nvSpPr>
          <p:cNvPr id="36" name="Text 14"/>
          <p:cNvSpPr/>
          <p:nvPr/>
        </p:nvSpPr>
        <p:spPr>
          <a:xfrm>
            <a:off x="10271075" y="3098006"/>
            <a:ext cx="4429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spc="42" kern="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2021+</a:t>
            </a:r>
            <a:endParaRPr lang="en-US" sz="1050" dirty="0"/>
          </a:p>
        </p:txBody>
      </p:sp>
      <p:sp>
        <p:nvSpPr>
          <p:cNvPr id="37" name="Text 15"/>
          <p:cNvSpPr/>
          <p:nvPr/>
        </p:nvSpPr>
        <p:spPr>
          <a:xfrm>
            <a:off x="9982944" y="3479006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&amp; Ford+ Plan</a:t>
            </a:r>
            <a:endParaRPr lang="en-US" sz="1350" dirty="0"/>
          </a:p>
        </p:txBody>
      </p:sp>
      <p:sp>
        <p:nvSpPr>
          <p:cNvPr id="38" name="Text 16"/>
          <p:cNvSpPr/>
          <p:nvPr/>
        </p:nvSpPr>
        <p:spPr>
          <a:xfrm>
            <a:off x="9631561" y="3821906"/>
            <a:ext cx="19506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maintenance, churn models, and digital-first mobility.</a:t>
            </a:r>
            <a:endParaRPr lang="en-US" sz="1050" dirty="0"/>
          </a:p>
        </p:txBody>
      </p:sp>
      <p:sp>
        <p:nvSpPr>
          <p:cNvPr id="39" name="Text 17"/>
          <p:cNvSpPr/>
          <p:nvPr/>
        </p:nvSpPr>
        <p:spPr>
          <a:xfrm>
            <a:off x="609600" y="5967413"/>
            <a:ext cx="1097280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Shift: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Ford has transitioned from a traditional automaker to a </a:t>
            </a:r>
            <a:pPr indent="0" marL="0">
              <a:lnSpc>
                <a:spcPts val="1706"/>
              </a:lnSpc>
              <a:buNone/>
            </a:pPr>
            <a:r>
              <a:rPr lang="en-US" sz="1050" b="1" i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customer-focused mobility company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separating EV (Model e) and ICE (Ford Blue) units to optimize the digital customer journey.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33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33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33" cy="135715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5467" y="467536"/>
            <a:ext cx="574086" cy="57929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380" y="1729531"/>
            <a:ext cx="3650222" cy="199014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570" y="1915721"/>
            <a:ext cx="465475" cy="4654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86" y="2033666"/>
            <a:ext cx="287043" cy="229586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70855" y="1729531"/>
            <a:ext cx="3650222" cy="1990149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7045" y="1915721"/>
            <a:ext cx="465475" cy="4654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46261" y="2033666"/>
            <a:ext cx="287043" cy="229586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69331" y="1729531"/>
            <a:ext cx="3650222" cy="1990149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55521" y="1915721"/>
            <a:ext cx="465475" cy="46547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75769" y="2031120"/>
            <a:ext cx="224979" cy="234677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2380" y="3967933"/>
            <a:ext cx="3650222" cy="1990149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8570" y="4154123"/>
            <a:ext cx="465475" cy="46547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3302" y="4268673"/>
            <a:ext cx="256011" cy="236253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70855" y="3967933"/>
            <a:ext cx="3650222" cy="1990149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57045" y="4154123"/>
            <a:ext cx="465475" cy="465475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61777" y="4268673"/>
            <a:ext cx="256011" cy="236253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69331" y="3967933"/>
            <a:ext cx="3650222" cy="1990149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55521" y="4154123"/>
            <a:ext cx="465475" cy="465475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75769" y="4269522"/>
            <a:ext cx="224979" cy="234677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6330462"/>
            <a:ext cx="12191933" cy="527538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72380" y="310317"/>
            <a:ext cx="11819620" cy="45723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8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CRM Practices</a:t>
            </a:r>
            <a:endParaRPr lang="en-US" sz="3600" dirty="0"/>
          </a:p>
        </p:txBody>
      </p:sp>
      <p:sp>
        <p:nvSpPr>
          <p:cNvPr id="26" name="Text 1"/>
          <p:cNvSpPr/>
          <p:nvPr/>
        </p:nvSpPr>
        <p:spPr>
          <a:xfrm>
            <a:off x="372380" y="829612"/>
            <a:ext cx="11819620" cy="2172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50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Transforming Customer Experience through Digital Innovation</a:t>
            </a:r>
            <a:endParaRPr lang="en-US" sz="1500" dirty="0"/>
          </a:p>
        </p:txBody>
      </p:sp>
      <p:sp>
        <p:nvSpPr>
          <p:cNvPr id="27" name="Text 2"/>
          <p:cNvSpPr/>
          <p:nvPr/>
        </p:nvSpPr>
        <p:spPr>
          <a:xfrm>
            <a:off x="558570" y="2505323"/>
            <a:ext cx="6455422" cy="2172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Omni-Channel Engagement</a:t>
            </a:r>
            <a:endParaRPr lang="en-US" sz="1500" dirty="0"/>
          </a:p>
        </p:txBody>
      </p:sp>
      <p:sp>
        <p:nvSpPr>
          <p:cNvPr id="28" name="Text 3"/>
          <p:cNvSpPr/>
          <p:nvPr/>
        </p:nvSpPr>
        <p:spPr>
          <a:xfrm>
            <a:off x="558570" y="2815639"/>
            <a:ext cx="3277842" cy="64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integration across FordPass app, dealerships, website, and social media for a unified customer journey.</a:t>
            </a:r>
            <a:endParaRPr lang="en-US" sz="1050" dirty="0"/>
          </a:p>
        </p:txBody>
      </p:sp>
      <p:sp>
        <p:nvSpPr>
          <p:cNvPr id="29" name="Text 4"/>
          <p:cNvSpPr/>
          <p:nvPr/>
        </p:nvSpPr>
        <p:spPr>
          <a:xfrm>
            <a:off x="4457045" y="2505323"/>
            <a:ext cx="6174751" cy="2172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Vehicle Data</a:t>
            </a:r>
            <a:endParaRPr lang="en-US" sz="1500" dirty="0"/>
          </a:p>
        </p:txBody>
      </p:sp>
      <p:sp>
        <p:nvSpPr>
          <p:cNvPr id="30" name="Text 5"/>
          <p:cNvSpPr/>
          <p:nvPr/>
        </p:nvSpPr>
        <p:spPr>
          <a:xfrm>
            <a:off x="4457045" y="2815639"/>
            <a:ext cx="3277842" cy="64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Utilizing telematics for proactive maintenance alerts, usage-based insurance, and personalized health reports.</a:t>
            </a:r>
            <a:endParaRPr lang="en-US" sz="1050" dirty="0"/>
          </a:p>
        </p:txBody>
      </p:sp>
      <p:sp>
        <p:nvSpPr>
          <p:cNvPr id="31" name="Text 6"/>
          <p:cNvSpPr/>
          <p:nvPr/>
        </p:nvSpPr>
        <p:spPr>
          <a:xfrm>
            <a:off x="8355521" y="2505323"/>
            <a:ext cx="3836479" cy="2172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Communications</a:t>
            </a:r>
            <a:endParaRPr lang="en-US" sz="1500" dirty="0"/>
          </a:p>
        </p:txBody>
      </p:sp>
      <p:sp>
        <p:nvSpPr>
          <p:cNvPr id="32" name="Text 7"/>
          <p:cNvSpPr/>
          <p:nvPr/>
        </p:nvSpPr>
        <p:spPr>
          <a:xfrm>
            <a:off x="8355521" y="2815639"/>
            <a:ext cx="3277842" cy="64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AI-driven email campaigns and FordPass push notifications tailored to driving behavior and purchase history.</a:t>
            </a:r>
            <a:endParaRPr lang="en-US" sz="1050" dirty="0"/>
          </a:p>
        </p:txBody>
      </p:sp>
      <p:sp>
        <p:nvSpPr>
          <p:cNvPr id="33" name="Text 8"/>
          <p:cNvSpPr/>
          <p:nvPr/>
        </p:nvSpPr>
        <p:spPr>
          <a:xfrm>
            <a:off x="558570" y="4743725"/>
            <a:ext cx="4490728" cy="2172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FordPass Rewards</a:t>
            </a:r>
            <a:endParaRPr lang="en-US" sz="1500" dirty="0"/>
          </a:p>
        </p:txBody>
      </p:sp>
      <p:sp>
        <p:nvSpPr>
          <p:cNvPr id="34" name="Text 9"/>
          <p:cNvSpPr/>
          <p:nvPr/>
        </p:nvSpPr>
        <p:spPr>
          <a:xfrm>
            <a:off x="558570" y="5054042"/>
            <a:ext cx="3277842" cy="4332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Points-based loyalty program incentivizing vehicle services, new purchases, and customer referrals.</a:t>
            </a:r>
            <a:endParaRPr lang="en-US" sz="1050" dirty="0"/>
          </a:p>
        </p:txBody>
      </p:sp>
      <p:sp>
        <p:nvSpPr>
          <p:cNvPr id="35" name="Text 10"/>
          <p:cNvSpPr/>
          <p:nvPr/>
        </p:nvSpPr>
        <p:spPr>
          <a:xfrm>
            <a:off x="4457045" y="4743725"/>
            <a:ext cx="5332740" cy="2172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 Customer Journey</a:t>
            </a:r>
            <a:endParaRPr lang="en-US" sz="1500" dirty="0"/>
          </a:p>
        </p:txBody>
      </p:sp>
      <p:sp>
        <p:nvSpPr>
          <p:cNvPr id="36" name="Text 11"/>
          <p:cNvSpPr/>
          <p:nvPr/>
        </p:nvSpPr>
        <p:spPr>
          <a:xfrm>
            <a:off x="4457045" y="5054042"/>
            <a:ext cx="3277842" cy="64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Specialized digital touchpoints for range management, home charging setup, and over-the-air (OTA) software updates.</a:t>
            </a:r>
            <a:endParaRPr lang="en-US" sz="1050" dirty="0"/>
          </a:p>
        </p:txBody>
      </p:sp>
      <p:sp>
        <p:nvSpPr>
          <p:cNvPr id="37" name="Text 12"/>
          <p:cNvSpPr/>
          <p:nvPr/>
        </p:nvSpPr>
        <p:spPr>
          <a:xfrm>
            <a:off x="8355521" y="4743725"/>
            <a:ext cx="3836479" cy="2172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Excellence</a:t>
            </a:r>
            <a:endParaRPr lang="en-US" sz="1500" dirty="0"/>
          </a:p>
        </p:txBody>
      </p:sp>
      <p:sp>
        <p:nvSpPr>
          <p:cNvPr id="38" name="Text 13"/>
          <p:cNvSpPr/>
          <p:nvPr/>
        </p:nvSpPr>
        <p:spPr>
          <a:xfrm>
            <a:off x="8355521" y="5054042"/>
            <a:ext cx="3277842" cy="64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 Oval Certification ensures consistent, high-quality service standards across the global dealer network.</a:t>
            </a:r>
            <a:endParaRPr lang="en-US" sz="1050" dirty="0"/>
          </a:p>
        </p:txBody>
      </p:sp>
      <p:sp>
        <p:nvSpPr>
          <p:cNvPr id="39" name="Text 14"/>
          <p:cNvSpPr/>
          <p:nvPr/>
        </p:nvSpPr>
        <p:spPr>
          <a:xfrm>
            <a:off x="372380" y="6532168"/>
            <a:ext cx="3704836" cy="1241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77"/>
              </a:lnSpc>
              <a:buNone/>
            </a:pPr>
            <a:r>
              <a:rPr lang="en-US" sz="900" b="1" spc="88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FORD+ DIGITAL STRATEGY</a:t>
            </a:r>
            <a:endParaRPr lang="en-US" sz="900" dirty="0"/>
          </a:p>
        </p:txBody>
      </p:sp>
      <p:sp>
        <p:nvSpPr>
          <p:cNvPr id="40" name="Text 15"/>
          <p:cNvSpPr/>
          <p:nvPr/>
        </p:nvSpPr>
        <p:spPr>
          <a:xfrm>
            <a:off x="2400470" y="6532168"/>
            <a:ext cx="7072868" cy="1241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77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"Building Enduring Customer Relationships"</a:t>
            </a:r>
            <a:endParaRPr lang="en-US" sz="900" dirty="0"/>
          </a:p>
        </p:txBody>
      </p:sp>
      <p:sp>
        <p:nvSpPr>
          <p:cNvPr id="41" name="Text 16"/>
          <p:cNvSpPr/>
          <p:nvPr/>
        </p:nvSpPr>
        <p:spPr>
          <a:xfrm>
            <a:off x="11020487" y="6516652"/>
            <a:ext cx="1171513" cy="1551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22"/>
              </a:lnSpc>
              <a:buNone/>
            </a:pPr>
            <a:r>
              <a:rPr lang="en-US" sz="105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Project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0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02" cy="125833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6407" y="422491"/>
            <a:ext cx="640935" cy="57947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561" y="1642896"/>
            <a:ext cx="3636678" cy="226104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35" y="1899269"/>
            <a:ext cx="448654" cy="44865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116" y="2013937"/>
            <a:ext cx="200292" cy="21932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935" y="2572251"/>
            <a:ext cx="168245" cy="42549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935" y="3157980"/>
            <a:ext cx="168245" cy="42549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77612" y="1642896"/>
            <a:ext cx="3636678" cy="226104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33986" y="1931316"/>
            <a:ext cx="407218" cy="448654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93323" y="2045107"/>
            <a:ext cx="288420" cy="221072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33986" y="2636344"/>
            <a:ext cx="168245" cy="42549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33986" y="3222073"/>
            <a:ext cx="168245" cy="42549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70664" y="1642896"/>
            <a:ext cx="3636678" cy="2261047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27038" y="1899269"/>
            <a:ext cx="448654" cy="448654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35196" y="2012309"/>
            <a:ext cx="232339" cy="222574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27038" y="2572251"/>
            <a:ext cx="168246" cy="425495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27038" y="3157980"/>
            <a:ext cx="168246" cy="425495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4561" y="4807009"/>
            <a:ext cx="11422782" cy="166643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6841" y="4999290"/>
            <a:ext cx="3593991" cy="1281869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27206" y="5255163"/>
            <a:ext cx="288420" cy="221072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27206" y="5622073"/>
            <a:ext cx="2310494" cy="420738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65887" y="5622073"/>
            <a:ext cx="2310494" cy="420738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304568" y="5622073"/>
            <a:ext cx="2310494" cy="420738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384561" y="256374"/>
            <a:ext cx="11807439" cy="45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8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 Supporting CRM</a:t>
            </a:r>
            <a:endParaRPr lang="en-US" sz="3600" dirty="0"/>
          </a:p>
        </p:txBody>
      </p:sp>
      <p:sp>
        <p:nvSpPr>
          <p:cNvPr id="27" name="Text 1"/>
          <p:cNvSpPr/>
          <p:nvPr/>
        </p:nvSpPr>
        <p:spPr>
          <a:xfrm>
            <a:off x="384561" y="777634"/>
            <a:ext cx="11807439" cy="2243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66"/>
              </a:lnSpc>
              <a:buNone/>
            </a:pPr>
            <a:r>
              <a:rPr lang="en-US" sz="150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Leadership, Alignment, and Technology Ecosystem</a:t>
            </a:r>
            <a:endParaRPr lang="en-US" sz="1500" dirty="0"/>
          </a:p>
        </p:txBody>
      </p:sp>
      <p:sp>
        <p:nvSpPr>
          <p:cNvPr id="28" name="Text 2"/>
          <p:cNvSpPr/>
          <p:nvPr/>
        </p:nvSpPr>
        <p:spPr>
          <a:xfrm>
            <a:off x="1217776" y="1995410"/>
            <a:ext cx="6522712" cy="25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19"/>
              </a:lnSpc>
              <a:buNone/>
            </a:pPr>
            <a:r>
              <a:rPr lang="en-US" sz="180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Leadership</a:t>
            </a:r>
            <a:endParaRPr lang="en-US" sz="1800" dirty="0"/>
          </a:p>
        </p:txBody>
      </p:sp>
      <p:sp>
        <p:nvSpPr>
          <p:cNvPr id="29" name="Text 3"/>
          <p:cNvSpPr/>
          <p:nvPr/>
        </p:nvSpPr>
        <p:spPr>
          <a:xfrm>
            <a:off x="905320" y="2540204"/>
            <a:ext cx="2859545" cy="45754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66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 Jim Farley:</a:t>
            </a:r>
            <a:pPr algn="l" indent="0" marL="0">
              <a:lnSpc>
                <a:spcPts val="1766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Championing a "Customer-First" culture.</a:t>
            </a:r>
            <a:endParaRPr lang="en-US" sz="1350" dirty="0"/>
          </a:p>
        </p:txBody>
      </p:sp>
      <p:sp>
        <p:nvSpPr>
          <p:cNvPr id="30" name="Text 4"/>
          <p:cNvSpPr/>
          <p:nvPr/>
        </p:nvSpPr>
        <p:spPr>
          <a:xfrm>
            <a:off x="905320" y="3125933"/>
            <a:ext cx="2859545" cy="45754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66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Ford+ Plan:</a:t>
            </a:r>
            <a:pPr algn="l" indent="0" marL="0">
              <a:lnSpc>
                <a:spcPts val="1766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Transformation focused on digital services.</a:t>
            </a:r>
            <a:endParaRPr lang="en-US" sz="1350" dirty="0"/>
          </a:p>
        </p:txBody>
      </p:sp>
      <p:sp>
        <p:nvSpPr>
          <p:cNvPr id="31" name="Text 5"/>
          <p:cNvSpPr/>
          <p:nvPr/>
        </p:nvSpPr>
        <p:spPr>
          <a:xfrm>
            <a:off x="5069392" y="1899269"/>
            <a:ext cx="2588525" cy="5127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19"/>
              </a:lnSpc>
              <a:buNone/>
            </a:pPr>
            <a:r>
              <a:rPr lang="en-US" sz="180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Organizational Alignment</a:t>
            </a:r>
            <a:endParaRPr lang="en-US" sz="1800" dirty="0"/>
          </a:p>
        </p:txBody>
      </p:sp>
      <p:sp>
        <p:nvSpPr>
          <p:cNvPr id="32" name="Text 6"/>
          <p:cNvSpPr/>
          <p:nvPr/>
        </p:nvSpPr>
        <p:spPr>
          <a:xfrm>
            <a:off x="4798372" y="2604297"/>
            <a:ext cx="2859545" cy="45754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66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Cross-Functional:</a:t>
            </a:r>
            <a:pPr algn="l" indent="0" marL="0">
              <a:lnSpc>
                <a:spcPts val="1766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Sales, Marketing, and IT integration.</a:t>
            </a:r>
            <a:endParaRPr lang="en-US" sz="1350" dirty="0"/>
          </a:p>
        </p:txBody>
      </p:sp>
      <p:sp>
        <p:nvSpPr>
          <p:cNvPr id="33" name="Text 7"/>
          <p:cNvSpPr/>
          <p:nvPr/>
        </p:nvSpPr>
        <p:spPr>
          <a:xfrm>
            <a:off x="4798372" y="3190027"/>
            <a:ext cx="2859545" cy="45754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66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Dealer Empowerment:</a:t>
            </a:r>
            <a:pPr algn="l" indent="0" marL="0">
              <a:lnSpc>
                <a:spcPts val="1766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Real-time performance dashboards.</a:t>
            </a:r>
            <a:endParaRPr lang="en-US" sz="1350" dirty="0"/>
          </a:p>
        </p:txBody>
      </p:sp>
      <p:sp>
        <p:nvSpPr>
          <p:cNvPr id="34" name="Text 8"/>
          <p:cNvSpPr/>
          <p:nvPr/>
        </p:nvSpPr>
        <p:spPr>
          <a:xfrm>
            <a:off x="9003879" y="1995410"/>
            <a:ext cx="3188121" cy="25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19"/>
              </a:lnSpc>
              <a:buNone/>
            </a:pPr>
            <a:r>
              <a:rPr lang="en-US" sz="180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35" name="Text 9"/>
          <p:cNvSpPr/>
          <p:nvPr/>
        </p:nvSpPr>
        <p:spPr>
          <a:xfrm>
            <a:off x="8691424" y="2540204"/>
            <a:ext cx="2859545" cy="45754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66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Salesforce CRM:</a:t>
            </a:r>
            <a:pPr algn="l" indent="0" marL="0">
              <a:lnSpc>
                <a:spcPts val="1766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Unified customer profiles.</a:t>
            </a:r>
            <a:endParaRPr lang="en-US" sz="1350" dirty="0"/>
          </a:p>
        </p:txBody>
      </p:sp>
      <p:sp>
        <p:nvSpPr>
          <p:cNvPr id="36" name="Text 10"/>
          <p:cNvSpPr/>
          <p:nvPr/>
        </p:nvSpPr>
        <p:spPr>
          <a:xfrm>
            <a:off x="8691424" y="3125933"/>
            <a:ext cx="2859545" cy="45754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66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Adobe Experience:</a:t>
            </a:r>
            <a:pPr algn="l" indent="0" marL="0">
              <a:lnSpc>
                <a:spcPts val="1766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Personalized marketing automation.</a:t>
            </a:r>
            <a:endParaRPr lang="en-US" sz="1350" dirty="0"/>
          </a:p>
        </p:txBody>
      </p:sp>
      <p:sp>
        <p:nvSpPr>
          <p:cNvPr id="37" name="Text 11"/>
          <p:cNvSpPr/>
          <p:nvPr/>
        </p:nvSpPr>
        <p:spPr>
          <a:xfrm>
            <a:off x="4811766" y="5237512"/>
            <a:ext cx="7380234" cy="25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19"/>
              </a:lnSpc>
              <a:buNone/>
            </a:pPr>
            <a:r>
              <a:rPr lang="en-US" sz="180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of Customer (VoC) Programs</a:t>
            </a:r>
            <a:endParaRPr lang="en-US" sz="1800" dirty="0"/>
          </a:p>
        </p:txBody>
      </p:sp>
      <p:sp>
        <p:nvSpPr>
          <p:cNvPr id="38" name="Text 12"/>
          <p:cNvSpPr/>
          <p:nvPr/>
        </p:nvSpPr>
        <p:spPr>
          <a:xfrm>
            <a:off x="4427206" y="5622073"/>
            <a:ext cx="2081894" cy="420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Systematic Feedback</a:t>
            </a:r>
            <a:endParaRPr lang="en-US" sz="1200" dirty="0"/>
          </a:p>
        </p:txBody>
      </p:sp>
      <p:sp>
        <p:nvSpPr>
          <p:cNvPr id="39" name="Text 13"/>
          <p:cNvSpPr/>
          <p:nvPr/>
        </p:nvSpPr>
        <p:spPr>
          <a:xfrm>
            <a:off x="6865887" y="5622073"/>
            <a:ext cx="2081894" cy="420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Listening</a:t>
            </a:r>
            <a:endParaRPr lang="en-US" sz="1200" dirty="0"/>
          </a:p>
        </p:txBody>
      </p:sp>
      <p:sp>
        <p:nvSpPr>
          <p:cNvPr id="40" name="Text 14"/>
          <p:cNvSpPr/>
          <p:nvPr/>
        </p:nvSpPr>
        <p:spPr>
          <a:xfrm>
            <a:off x="9304568" y="5622073"/>
            <a:ext cx="2081894" cy="420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NPS Scoring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59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59" cy="135610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6562" y="466886"/>
            <a:ext cx="573437" cy="57924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959" y="1728061"/>
            <a:ext cx="247973" cy="28611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959" y="2138161"/>
            <a:ext cx="5537980" cy="187529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939" y="3048686"/>
            <a:ext cx="154983" cy="15498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939" y="3339279"/>
            <a:ext cx="154983" cy="154983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939" y="3629872"/>
            <a:ext cx="154983" cy="154983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959" y="4261428"/>
            <a:ext cx="286719" cy="286719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1899" y="1728061"/>
            <a:ext cx="286719" cy="286719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1899" y="2138766"/>
            <a:ext cx="2706997" cy="480447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5885" y="2263842"/>
            <a:ext cx="201478" cy="230174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12882" y="2138766"/>
            <a:ext cx="2707117" cy="480447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36868" y="2262752"/>
            <a:ext cx="232475" cy="23247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1899" y="2743200"/>
            <a:ext cx="2706997" cy="48856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5885" y="2871182"/>
            <a:ext cx="232475" cy="232474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12882" y="2743200"/>
            <a:ext cx="2707117" cy="48856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36868" y="2867186"/>
            <a:ext cx="170481" cy="240587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81899" y="3479733"/>
            <a:ext cx="317715" cy="288777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81899" y="3892496"/>
            <a:ext cx="309967" cy="309966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81899" y="4295452"/>
            <a:ext cx="309967" cy="309966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81899" y="4698408"/>
            <a:ext cx="309967" cy="309966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81899" y="5101364"/>
            <a:ext cx="309967" cy="309967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0" y="6331057"/>
            <a:ext cx="12191959" cy="526943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371959" y="309966"/>
            <a:ext cx="118200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8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Analysis Overview</a:t>
            </a:r>
            <a:endParaRPr lang="en-US" sz="3600" dirty="0"/>
          </a:p>
        </p:txBody>
      </p:sp>
      <p:sp>
        <p:nvSpPr>
          <p:cNvPr id="27" name="Text 1"/>
          <p:cNvSpPr/>
          <p:nvPr/>
        </p:nvSpPr>
        <p:spPr>
          <a:xfrm>
            <a:off x="371959" y="829159"/>
            <a:ext cx="11820041" cy="2169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8"/>
              </a:lnSpc>
              <a:buNone/>
            </a:pPr>
            <a:r>
              <a:rPr lang="en-US" sz="150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Modeling for Customer Retention &amp; Churn</a:t>
            </a:r>
            <a:endParaRPr lang="en-US" sz="1500" dirty="0"/>
          </a:p>
        </p:txBody>
      </p:sp>
      <p:sp>
        <p:nvSpPr>
          <p:cNvPr id="28" name="Text 2"/>
          <p:cNvSpPr/>
          <p:nvPr/>
        </p:nvSpPr>
        <p:spPr>
          <a:xfrm>
            <a:off x="712922" y="1747071"/>
            <a:ext cx="5057775" cy="2479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3"/>
              </a:lnSpc>
              <a:buNone/>
            </a:pPr>
            <a:r>
              <a:rPr lang="en-US" sz="1800" b="1" spc="89" kern="0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PROFILE</a:t>
            </a:r>
            <a:endParaRPr lang="en-US" sz="1800" dirty="0"/>
          </a:p>
        </p:txBody>
      </p:sp>
      <p:sp>
        <p:nvSpPr>
          <p:cNvPr id="29" name="Text 3"/>
          <p:cNvSpPr/>
          <p:nvPr/>
        </p:nvSpPr>
        <p:spPr>
          <a:xfrm>
            <a:off x="557939" y="2324140"/>
            <a:ext cx="5563553" cy="3099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41"/>
              </a:lnSpc>
              <a:buNone/>
            </a:pPr>
            <a:r>
              <a:rPr lang="en-US" sz="270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120,000</a:t>
            </a:r>
            <a:endParaRPr lang="en-US" sz="2700" dirty="0"/>
          </a:p>
        </p:txBody>
      </p:sp>
      <p:sp>
        <p:nvSpPr>
          <p:cNvPr id="30" name="Text 4"/>
          <p:cNvSpPr/>
          <p:nvPr/>
        </p:nvSpPr>
        <p:spPr>
          <a:xfrm>
            <a:off x="557939" y="2665103"/>
            <a:ext cx="51660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CRM Records</a:t>
            </a:r>
            <a:endParaRPr lang="en-US" sz="1200" dirty="0"/>
          </a:p>
        </p:txBody>
      </p:sp>
      <p:sp>
        <p:nvSpPr>
          <p:cNvPr id="31" name="Text 5"/>
          <p:cNvSpPr/>
          <p:nvPr/>
        </p:nvSpPr>
        <p:spPr>
          <a:xfrm>
            <a:off x="774915" y="3017689"/>
            <a:ext cx="76428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Demographics: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Age, Income Segments</a:t>
            </a:r>
            <a:endParaRPr lang="en-US" sz="1200" dirty="0"/>
          </a:p>
        </p:txBody>
      </p:sp>
      <p:sp>
        <p:nvSpPr>
          <p:cNvPr id="32" name="Text 6"/>
          <p:cNvSpPr/>
          <p:nvPr/>
        </p:nvSpPr>
        <p:spPr>
          <a:xfrm>
            <a:off x="774915" y="3308283"/>
            <a:ext cx="101155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Purchase Frequency, Avg Order Value</a:t>
            </a:r>
            <a:endParaRPr lang="en-US" sz="1200" dirty="0"/>
          </a:p>
        </p:txBody>
      </p:sp>
      <p:sp>
        <p:nvSpPr>
          <p:cNvPr id="33" name="Text 7"/>
          <p:cNvSpPr/>
          <p:nvPr/>
        </p:nvSpPr>
        <p:spPr>
          <a:xfrm>
            <a:off x="774915" y="3598876"/>
            <a:ext cx="9740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Metrics: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Loyalty Score, Churn Status (0/1)</a:t>
            </a:r>
            <a:endParaRPr lang="en-US" sz="1200" dirty="0"/>
          </a:p>
        </p:txBody>
      </p:sp>
      <p:sp>
        <p:nvSpPr>
          <p:cNvPr id="34" name="Text 8"/>
          <p:cNvSpPr/>
          <p:nvPr/>
        </p:nvSpPr>
        <p:spPr>
          <a:xfrm>
            <a:off x="751668" y="4280801"/>
            <a:ext cx="5057775" cy="2479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3"/>
              </a:lnSpc>
              <a:buNone/>
            </a:pPr>
            <a:r>
              <a:rPr lang="en-US" sz="1800" b="1" spc="89" kern="0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OBJECTIVES</a:t>
            </a:r>
            <a:endParaRPr lang="en-US" sz="1800" dirty="0"/>
          </a:p>
        </p:txBody>
      </p:sp>
      <p:sp>
        <p:nvSpPr>
          <p:cNvPr id="35" name="Text 9"/>
          <p:cNvSpPr/>
          <p:nvPr/>
        </p:nvSpPr>
        <p:spPr>
          <a:xfrm>
            <a:off x="371959" y="4672133"/>
            <a:ext cx="553798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high-precision predictive models to identify at-risk customers and estimate </a:t>
            </a:r>
            <a:pPr indent="0" marL="0">
              <a:lnSpc>
                <a:spcPts val="2194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Lifetime Value (CLV)</a:t>
            </a:r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through survival analysis.</a:t>
            </a:r>
            <a:endParaRPr lang="en-US" sz="1350" dirty="0"/>
          </a:p>
        </p:txBody>
      </p:sp>
      <p:sp>
        <p:nvSpPr>
          <p:cNvPr id="36" name="Text 10"/>
          <p:cNvSpPr/>
          <p:nvPr/>
        </p:nvSpPr>
        <p:spPr>
          <a:xfrm>
            <a:off x="6661607" y="1747434"/>
            <a:ext cx="5057775" cy="2479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3"/>
              </a:lnSpc>
              <a:buNone/>
            </a:pPr>
            <a:r>
              <a:rPr lang="en-US" sz="1800" b="1" spc="89" kern="0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STACK</a:t>
            </a:r>
            <a:endParaRPr lang="en-US" sz="1800" dirty="0"/>
          </a:p>
        </p:txBody>
      </p:sp>
      <p:sp>
        <p:nvSpPr>
          <p:cNvPr id="37" name="Text 11"/>
          <p:cNvSpPr/>
          <p:nvPr/>
        </p:nvSpPr>
        <p:spPr>
          <a:xfrm>
            <a:off x="6700353" y="2264690"/>
            <a:ext cx="24726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Core</a:t>
            </a:r>
            <a:endParaRPr lang="en-US" sz="1200" dirty="0"/>
          </a:p>
        </p:txBody>
      </p:sp>
      <p:sp>
        <p:nvSpPr>
          <p:cNvPr id="38" name="Text 12"/>
          <p:cNvSpPr/>
          <p:nvPr/>
        </p:nvSpPr>
        <p:spPr>
          <a:xfrm>
            <a:off x="9562333" y="2264690"/>
            <a:ext cx="2629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39" name="Text 13"/>
          <p:cNvSpPr/>
          <p:nvPr/>
        </p:nvSpPr>
        <p:spPr>
          <a:xfrm>
            <a:off x="6731350" y="2873119"/>
            <a:ext cx="224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40" name="Text 14"/>
          <p:cNvSpPr/>
          <p:nvPr/>
        </p:nvSpPr>
        <p:spPr>
          <a:xfrm>
            <a:off x="9500340" y="2873119"/>
            <a:ext cx="2691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Lifelines Lib</a:t>
            </a:r>
            <a:endParaRPr lang="en-US" sz="1200" dirty="0"/>
          </a:p>
        </p:txBody>
      </p:sp>
      <p:sp>
        <p:nvSpPr>
          <p:cNvPr id="41" name="Text 15"/>
          <p:cNvSpPr/>
          <p:nvPr/>
        </p:nvSpPr>
        <p:spPr>
          <a:xfrm>
            <a:off x="6692604" y="3500074"/>
            <a:ext cx="5499396" cy="2479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3"/>
              </a:lnSpc>
              <a:buNone/>
            </a:pPr>
            <a:r>
              <a:rPr lang="en-US" sz="1800" b="1" spc="89" kern="0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MODELING PIPELINE</a:t>
            </a:r>
            <a:endParaRPr lang="en-US" sz="1800" dirty="0"/>
          </a:p>
        </p:txBody>
      </p:sp>
      <p:sp>
        <p:nvSpPr>
          <p:cNvPr id="42" name="Text 16"/>
          <p:cNvSpPr/>
          <p:nvPr/>
        </p:nvSpPr>
        <p:spPr>
          <a:xfrm>
            <a:off x="6405885" y="3892496"/>
            <a:ext cx="374651" cy="3099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Text 17"/>
          <p:cNvSpPr/>
          <p:nvPr/>
        </p:nvSpPr>
        <p:spPr>
          <a:xfrm>
            <a:off x="6715851" y="3933179"/>
            <a:ext cx="54761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Exploratory Data Analysis (EDA)</a:t>
            </a:r>
            <a:endParaRPr lang="en-US" sz="1200" dirty="0"/>
          </a:p>
        </p:txBody>
      </p:sp>
      <p:sp>
        <p:nvSpPr>
          <p:cNvPr id="44" name="Text 18"/>
          <p:cNvSpPr/>
          <p:nvPr/>
        </p:nvSpPr>
        <p:spPr>
          <a:xfrm>
            <a:off x="6390387" y="4295452"/>
            <a:ext cx="374651" cy="3099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45" name="Text 19"/>
          <p:cNvSpPr/>
          <p:nvPr/>
        </p:nvSpPr>
        <p:spPr>
          <a:xfrm>
            <a:off x="6715851" y="4336135"/>
            <a:ext cx="54761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 Regression &amp; Feature Importance</a:t>
            </a:r>
            <a:endParaRPr lang="en-US" sz="1200" dirty="0"/>
          </a:p>
        </p:txBody>
      </p:sp>
      <p:sp>
        <p:nvSpPr>
          <p:cNvPr id="46" name="Text 20"/>
          <p:cNvSpPr/>
          <p:nvPr/>
        </p:nvSpPr>
        <p:spPr>
          <a:xfrm>
            <a:off x="6386513" y="4698408"/>
            <a:ext cx="374651" cy="3099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Text 21"/>
          <p:cNvSpPr/>
          <p:nvPr/>
        </p:nvSpPr>
        <p:spPr>
          <a:xfrm>
            <a:off x="6715851" y="4739091"/>
            <a:ext cx="54761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&amp; Decision Tree Classifiers</a:t>
            </a:r>
            <a:endParaRPr lang="en-US" sz="1200" dirty="0"/>
          </a:p>
        </p:txBody>
      </p:sp>
      <p:sp>
        <p:nvSpPr>
          <p:cNvPr id="48" name="Text 22"/>
          <p:cNvSpPr/>
          <p:nvPr/>
        </p:nvSpPr>
        <p:spPr>
          <a:xfrm>
            <a:off x="6386513" y="5101364"/>
            <a:ext cx="374651" cy="30996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49" name="Text 23"/>
          <p:cNvSpPr/>
          <p:nvPr/>
        </p:nvSpPr>
        <p:spPr>
          <a:xfrm>
            <a:off x="6715851" y="5142047"/>
            <a:ext cx="54761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Kaplan-Meier Survival Analysis</a:t>
            </a:r>
            <a:endParaRPr lang="en-US" sz="1200" dirty="0"/>
          </a:p>
        </p:txBody>
      </p:sp>
      <p:sp>
        <p:nvSpPr>
          <p:cNvPr id="50" name="Text 24"/>
          <p:cNvSpPr/>
          <p:nvPr/>
        </p:nvSpPr>
        <p:spPr>
          <a:xfrm>
            <a:off x="371959" y="6517037"/>
            <a:ext cx="3147054" cy="1549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20"/>
              </a:lnSpc>
              <a:buNone/>
            </a:pPr>
            <a:r>
              <a:rPr lang="en-US" sz="1050" b="1" spc="103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FORD CRM PROJECT</a:t>
            </a:r>
            <a:endParaRPr lang="en-US" sz="1050" dirty="0"/>
          </a:p>
        </p:txBody>
      </p:sp>
      <p:sp>
        <p:nvSpPr>
          <p:cNvPr id="51" name="Text 25"/>
          <p:cNvSpPr/>
          <p:nvPr/>
        </p:nvSpPr>
        <p:spPr>
          <a:xfrm>
            <a:off x="9441010" y="6517037"/>
            <a:ext cx="2750990" cy="1549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20"/>
              </a:lnSpc>
              <a:buNone/>
            </a:pPr>
            <a:r>
              <a:rPr lang="en-US" sz="105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4: QUANTITATIVE RESEARCH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26580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281" y="1568083"/>
            <a:ext cx="3761686" cy="65494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421" y="1750022"/>
            <a:ext cx="358959" cy="29096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5108" y="1568083"/>
            <a:ext cx="3761686" cy="65494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6248" y="1750022"/>
            <a:ext cx="358959" cy="29096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7934" y="1568083"/>
            <a:ext cx="3761687" cy="65494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9075" y="1748939"/>
            <a:ext cx="283389" cy="29313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2281" y="2424545"/>
            <a:ext cx="188926" cy="198864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2281" y="2749360"/>
            <a:ext cx="151141" cy="161177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2281" y="3282091"/>
            <a:ext cx="151141" cy="161177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2281" y="3865202"/>
            <a:ext cx="214116" cy="194633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2281" y="4185785"/>
            <a:ext cx="113355" cy="164818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2281" y="4718516"/>
            <a:ext cx="113355" cy="164818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47140" y="2424545"/>
            <a:ext cx="5642578" cy="1864066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47901" y="2676446"/>
            <a:ext cx="5441057" cy="151140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47140" y="4389372"/>
            <a:ext cx="5642578" cy="1864066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47901" y="4641273"/>
            <a:ext cx="5441057" cy="1511405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6555719"/>
            <a:ext cx="12192000" cy="302281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461488" y="6669074"/>
            <a:ext cx="75570" cy="7557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637818" y="6669074"/>
            <a:ext cx="75571" cy="7557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814149" y="6669074"/>
            <a:ext cx="75570" cy="7557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02281" y="610860"/>
            <a:ext cx="11889719" cy="2519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83"/>
              </a:lnSpc>
              <a:buNone/>
            </a:pPr>
            <a:r>
              <a:rPr lang="en-US" sz="2700" b="1" spc="-8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Exploratory Data Analysis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302281" y="887950"/>
            <a:ext cx="11889719" cy="1763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88"/>
              </a:lnSpc>
              <a:buNone/>
            </a:pPr>
            <a:r>
              <a:rPr lang="en-US" sz="135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Insights &amp; Customer Demographics</a:t>
            </a:r>
            <a:endParaRPr lang="en-US" sz="1350" dirty="0"/>
          </a:p>
        </p:txBody>
      </p:sp>
      <p:sp>
        <p:nvSpPr>
          <p:cNvPr id="26" name="Text 2"/>
          <p:cNvSpPr/>
          <p:nvPr/>
        </p:nvSpPr>
        <p:spPr>
          <a:xfrm>
            <a:off x="9927451" y="867188"/>
            <a:ext cx="1962267" cy="16373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992"/>
              </a:lnSpc>
              <a:buNone/>
            </a:pPr>
            <a:r>
              <a:rPr lang="en-US" sz="1050" b="1" spc="127" kern="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PROJECT | SLIDE 08</a:t>
            </a:r>
            <a:endParaRPr lang="en-US" sz="1050" dirty="0"/>
          </a:p>
        </p:txBody>
      </p:sp>
      <p:sp>
        <p:nvSpPr>
          <p:cNvPr id="27" name="Text 3"/>
          <p:cNvSpPr/>
          <p:nvPr/>
        </p:nvSpPr>
        <p:spPr>
          <a:xfrm>
            <a:off x="938331" y="1719223"/>
            <a:ext cx="3146393" cy="12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92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RECORDS</a:t>
            </a:r>
            <a:endParaRPr lang="en-US" sz="1050" dirty="0"/>
          </a:p>
        </p:txBody>
      </p:sp>
      <p:sp>
        <p:nvSpPr>
          <p:cNvPr id="28" name="Text 4"/>
          <p:cNvSpPr/>
          <p:nvPr/>
        </p:nvSpPr>
        <p:spPr>
          <a:xfrm>
            <a:off x="938331" y="1845174"/>
            <a:ext cx="5704999" cy="2267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225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120,000</a:t>
            </a:r>
            <a:endParaRPr lang="en-US" sz="2250" dirty="0"/>
          </a:p>
        </p:txBody>
      </p:sp>
      <p:sp>
        <p:nvSpPr>
          <p:cNvPr id="29" name="Text 5"/>
          <p:cNvSpPr/>
          <p:nvPr/>
        </p:nvSpPr>
        <p:spPr>
          <a:xfrm>
            <a:off x="4851157" y="1719223"/>
            <a:ext cx="2420303" cy="12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92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RATE</a:t>
            </a:r>
            <a:endParaRPr lang="en-US" sz="1050" dirty="0"/>
          </a:p>
        </p:txBody>
      </p:sp>
      <p:sp>
        <p:nvSpPr>
          <p:cNvPr id="30" name="Text 6"/>
          <p:cNvSpPr/>
          <p:nvPr/>
        </p:nvSpPr>
        <p:spPr>
          <a:xfrm>
            <a:off x="4851157" y="1845174"/>
            <a:ext cx="2247424" cy="2267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22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</a:t>
            </a:r>
            <a:endParaRPr lang="en-US" sz="2250" dirty="0"/>
          </a:p>
        </p:txBody>
      </p:sp>
      <p:sp>
        <p:nvSpPr>
          <p:cNvPr id="31" name="Text 7"/>
          <p:cNvSpPr/>
          <p:nvPr/>
        </p:nvSpPr>
        <p:spPr>
          <a:xfrm>
            <a:off x="8688414" y="1719223"/>
            <a:ext cx="3503586" cy="12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92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INCOME SEGMENT</a:t>
            </a:r>
            <a:endParaRPr lang="en-US" sz="1050" dirty="0"/>
          </a:p>
        </p:txBody>
      </p:sp>
      <p:sp>
        <p:nvSpPr>
          <p:cNvPr id="32" name="Text 8"/>
          <p:cNvSpPr/>
          <p:nvPr/>
        </p:nvSpPr>
        <p:spPr>
          <a:xfrm>
            <a:off x="8688414" y="1845174"/>
            <a:ext cx="3503586" cy="2267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225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 0.61</a:t>
            </a:r>
            <a:endParaRPr lang="en-US" sz="2250" dirty="0"/>
          </a:p>
        </p:txBody>
      </p:sp>
      <p:sp>
        <p:nvSpPr>
          <p:cNvPr id="33" name="Text 9"/>
          <p:cNvSpPr/>
          <p:nvPr/>
        </p:nvSpPr>
        <p:spPr>
          <a:xfrm>
            <a:off x="541587" y="2424545"/>
            <a:ext cx="6569392" cy="19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88"/>
              </a:lnSpc>
              <a:buNone/>
            </a:pPr>
            <a:r>
              <a:rPr lang="en-US" sz="150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 Profile</a:t>
            </a:r>
            <a:endParaRPr lang="en-US" sz="1500" dirty="0"/>
          </a:p>
        </p:txBody>
      </p:sp>
      <p:sp>
        <p:nvSpPr>
          <p:cNvPr id="34" name="Text 10"/>
          <p:cNvSpPr/>
          <p:nvPr/>
        </p:nvSpPr>
        <p:spPr>
          <a:xfrm>
            <a:off x="528992" y="2724170"/>
            <a:ext cx="5415868" cy="45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Range: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18–70 years old; primary segment identified in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30–50 age bracket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35" name="Text 11"/>
          <p:cNvSpPr/>
          <p:nvPr/>
        </p:nvSpPr>
        <p:spPr>
          <a:xfrm>
            <a:off x="528992" y="3256901"/>
            <a:ext cx="5415868" cy="45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Income Impact: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Strong positive correlation with purchase frequency and brand loyalty scores.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566777" y="3865202"/>
            <a:ext cx="5642578" cy="1946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88"/>
              </a:lnSpc>
              <a:buNone/>
            </a:pPr>
            <a:r>
              <a:rPr lang="en-US" sz="150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Drivers</a:t>
            </a:r>
            <a:endParaRPr lang="en-US" sz="1500" dirty="0"/>
          </a:p>
        </p:txBody>
      </p:sp>
      <p:sp>
        <p:nvSpPr>
          <p:cNvPr id="37" name="Text 13"/>
          <p:cNvSpPr/>
          <p:nvPr/>
        </p:nvSpPr>
        <p:spPr>
          <a:xfrm>
            <a:off x="491207" y="4160595"/>
            <a:ext cx="5453653" cy="4571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 Frequency: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Customers with higher frequency show significantly lower churn probability.</a:t>
            </a:r>
            <a:endParaRPr lang="en-US" sz="1200" dirty="0"/>
          </a:p>
        </p:txBody>
      </p:sp>
      <p:sp>
        <p:nvSpPr>
          <p:cNvPr id="38" name="Text 14"/>
          <p:cNvSpPr/>
          <p:nvPr/>
        </p:nvSpPr>
        <p:spPr>
          <a:xfrm>
            <a:off x="491207" y="4693325"/>
            <a:ext cx="5453653" cy="4571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Income Level: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Higher income segments exhibit lower churn and higher customer equity.</a:t>
            </a:r>
            <a:endParaRPr lang="en-US" sz="1200" dirty="0"/>
          </a:p>
        </p:txBody>
      </p:sp>
      <p:sp>
        <p:nvSpPr>
          <p:cNvPr id="39" name="Text 15"/>
          <p:cNvSpPr/>
          <p:nvPr/>
        </p:nvSpPr>
        <p:spPr>
          <a:xfrm>
            <a:off x="6347901" y="2525306"/>
            <a:ext cx="5441057" cy="1007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793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CHURN DISTRIBUTION</a:t>
            </a:r>
            <a:endParaRPr lang="en-US" sz="900" dirty="0"/>
          </a:p>
        </p:txBody>
      </p:sp>
      <p:sp>
        <p:nvSpPr>
          <p:cNvPr id="40" name="Text 16"/>
          <p:cNvSpPr/>
          <p:nvPr/>
        </p:nvSpPr>
        <p:spPr>
          <a:xfrm>
            <a:off x="6347901" y="4490132"/>
            <a:ext cx="5441057" cy="1007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793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 DISTRIBUTION (AGE)</a:t>
            </a:r>
            <a:endParaRPr lang="en-US" sz="900" dirty="0"/>
          </a:p>
        </p:txBody>
      </p:sp>
      <p:sp>
        <p:nvSpPr>
          <p:cNvPr id="41" name="Text 17"/>
          <p:cNvSpPr/>
          <p:nvPr/>
        </p:nvSpPr>
        <p:spPr>
          <a:xfrm>
            <a:off x="302281" y="6656479"/>
            <a:ext cx="11889719" cy="1007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793"/>
              </a:lnSpc>
              <a:buNone/>
            </a:pPr>
            <a:r>
              <a:rPr lang="en-US" sz="900" i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CRM Dataset Analysis | Predictive Modeling Preparation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00584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4475" y="274320"/>
            <a:ext cx="2691765" cy="4572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371600"/>
            <a:ext cx="5608320" cy="25908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56591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2265878"/>
            <a:ext cx="109537" cy="10953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2844998"/>
            <a:ext cx="109537" cy="10953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3422094"/>
            <a:ext cx="113586" cy="113586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4145280"/>
            <a:ext cx="5608320" cy="131064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4339590"/>
            <a:ext cx="190500" cy="190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640" y="4632960"/>
            <a:ext cx="2560320" cy="64008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30880" y="4632960"/>
            <a:ext cx="2560320" cy="64008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7920" y="1371600"/>
            <a:ext cx="5608320" cy="428244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2072640"/>
            <a:ext cx="5242560" cy="338328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5760" y="6019800"/>
            <a:ext cx="11460480" cy="59436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7680" y="6141720"/>
            <a:ext cx="236220" cy="35052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8640" y="6252567"/>
            <a:ext cx="114300" cy="1524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65760" y="243840"/>
            <a:ext cx="10801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2700" b="1" spc="-6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Factor Analysis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365760" y="548640"/>
            <a:ext cx="1182624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35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 Regression Results &amp; Predictor Identification</a:t>
            </a:r>
            <a:endParaRPr lang="en-US" sz="1350" dirty="0"/>
          </a:p>
        </p:txBody>
      </p:sp>
      <p:sp>
        <p:nvSpPr>
          <p:cNvPr id="21" name="Text 2"/>
          <p:cNvSpPr/>
          <p:nvPr/>
        </p:nvSpPr>
        <p:spPr>
          <a:xfrm>
            <a:off x="9317355" y="426720"/>
            <a:ext cx="2800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spc="53" kern="0" dirty="0">
                <a:solidFill>
                  <a:srgbClr val="DBEA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ACCURACY</a:t>
            </a:r>
            <a:endParaRPr lang="en-US" sz="1050" dirty="0"/>
          </a:p>
        </p:txBody>
      </p:sp>
      <p:sp>
        <p:nvSpPr>
          <p:cNvPr id="22" name="Text 3"/>
          <p:cNvSpPr/>
          <p:nvPr/>
        </p:nvSpPr>
        <p:spPr>
          <a:xfrm>
            <a:off x="10797540" y="365760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6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~68%</a:t>
            </a:r>
            <a:endParaRPr lang="en-US" sz="2250" dirty="0"/>
          </a:p>
        </p:txBody>
      </p:sp>
      <p:sp>
        <p:nvSpPr>
          <p:cNvPr id="23" name="Text 4"/>
          <p:cNvSpPr/>
          <p:nvPr/>
        </p:nvSpPr>
        <p:spPr>
          <a:xfrm>
            <a:off x="800100" y="1554480"/>
            <a:ext cx="571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50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Churn Inhibitors</a:t>
            </a:r>
            <a:endParaRPr lang="en-US" sz="1500" dirty="0"/>
          </a:p>
        </p:txBody>
      </p:sp>
      <p:sp>
        <p:nvSpPr>
          <p:cNvPr id="24" name="Text 5"/>
          <p:cNvSpPr/>
          <p:nvPr/>
        </p:nvSpPr>
        <p:spPr>
          <a:xfrm>
            <a:off x="548640" y="1889760"/>
            <a:ext cx="116433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that significantly reduce the probability of customer churn:</a:t>
            </a:r>
            <a:endParaRPr lang="en-US" sz="1050" dirty="0"/>
          </a:p>
        </p:txBody>
      </p:sp>
      <p:sp>
        <p:nvSpPr>
          <p:cNvPr id="25" name="Text 6"/>
          <p:cNvSpPr/>
          <p:nvPr/>
        </p:nvSpPr>
        <p:spPr>
          <a:xfrm>
            <a:off x="749618" y="2186940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 Frequency: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2387917" y="2186940"/>
            <a:ext cx="44424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most powerful predictor; frequent interaction builds habit and loyalty.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749618" y="276606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Income Level: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1831658" y="2766060"/>
            <a:ext cx="50215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Higher-income segments show greater brand stability and lower price sensitivity.</a:t>
            </a:r>
            <a:endParaRPr lang="en-US" sz="1200" dirty="0"/>
          </a:p>
        </p:txBody>
      </p:sp>
      <p:sp>
        <p:nvSpPr>
          <p:cNvPr id="29" name="Text 10"/>
          <p:cNvSpPr/>
          <p:nvPr/>
        </p:nvSpPr>
        <p:spPr>
          <a:xfrm>
            <a:off x="753666" y="33451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Loyalty Score:</a:t>
            </a:r>
            <a:endParaRPr lang="en-US" sz="1200" dirty="0"/>
          </a:p>
        </p:txBody>
      </p:sp>
      <p:sp>
        <p:nvSpPr>
          <p:cNvPr id="30" name="Text 11"/>
          <p:cNvSpPr/>
          <p:nvPr/>
        </p:nvSpPr>
        <p:spPr>
          <a:xfrm>
            <a:off x="1866186" y="334518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FordPass Rewards enrollment is a strong indicator of long-term commitment.</a:t>
            </a:r>
            <a:endParaRPr lang="en-US" sz="1200" dirty="0"/>
          </a:p>
        </p:txBody>
      </p:sp>
      <p:sp>
        <p:nvSpPr>
          <p:cNvPr id="31" name="Text 12"/>
          <p:cNvSpPr/>
          <p:nvPr/>
        </p:nvSpPr>
        <p:spPr>
          <a:xfrm>
            <a:off x="800100" y="4328160"/>
            <a:ext cx="600075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Churn Drivers</a:t>
            </a:r>
            <a:endParaRPr lang="en-US" sz="1500" dirty="0"/>
          </a:p>
        </p:txBody>
      </p:sp>
      <p:sp>
        <p:nvSpPr>
          <p:cNvPr id="32" name="Text 13"/>
          <p:cNvSpPr/>
          <p:nvPr/>
        </p:nvSpPr>
        <p:spPr>
          <a:xfrm>
            <a:off x="640080" y="4724400"/>
            <a:ext cx="24003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60"/>
              </a:lnSpc>
              <a:buNone/>
            </a:pPr>
            <a:r>
              <a:rPr lang="en-US" sz="9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ENGAGEMENT</a:t>
            </a:r>
            <a:endParaRPr lang="en-US" sz="900" dirty="0"/>
          </a:p>
        </p:txBody>
      </p:sp>
      <p:sp>
        <p:nvSpPr>
          <p:cNvPr id="33" name="Text 14"/>
          <p:cNvSpPr/>
          <p:nvPr/>
        </p:nvSpPr>
        <p:spPr>
          <a:xfrm>
            <a:off x="640080" y="4876800"/>
            <a:ext cx="7600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periods since last service visit.</a:t>
            </a:r>
            <a:endParaRPr lang="en-US" sz="1050" dirty="0"/>
          </a:p>
        </p:txBody>
      </p:sp>
      <p:sp>
        <p:nvSpPr>
          <p:cNvPr id="34" name="Text 15"/>
          <p:cNvSpPr/>
          <p:nvPr/>
        </p:nvSpPr>
        <p:spPr>
          <a:xfrm>
            <a:off x="3322320" y="4724400"/>
            <a:ext cx="237744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60"/>
              </a:lnSpc>
              <a:buNone/>
            </a:pPr>
            <a:r>
              <a:rPr lang="en-US" sz="9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SEGMENTS</a:t>
            </a:r>
            <a:endParaRPr lang="en-US" sz="900" dirty="0"/>
          </a:p>
        </p:txBody>
      </p:sp>
      <p:sp>
        <p:nvSpPr>
          <p:cNvPr id="35" name="Text 16"/>
          <p:cNvSpPr/>
          <p:nvPr/>
        </p:nvSpPr>
        <p:spPr>
          <a:xfrm>
            <a:off x="3322320" y="4876800"/>
            <a:ext cx="2377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churn risk in younger demographics.</a:t>
            </a:r>
            <a:endParaRPr lang="en-US" sz="1050" dirty="0"/>
          </a:p>
        </p:txBody>
      </p:sp>
      <p:sp>
        <p:nvSpPr>
          <p:cNvPr id="36" name="Text 17"/>
          <p:cNvSpPr/>
          <p:nvPr/>
        </p:nvSpPr>
        <p:spPr>
          <a:xfrm>
            <a:off x="6400800" y="1554480"/>
            <a:ext cx="571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50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Coefficients</a:t>
            </a:r>
            <a:endParaRPr lang="en-US" sz="1500" dirty="0"/>
          </a:p>
        </p:txBody>
      </p:sp>
      <p:sp>
        <p:nvSpPr>
          <p:cNvPr id="37" name="Text 18"/>
          <p:cNvSpPr/>
          <p:nvPr/>
        </p:nvSpPr>
        <p:spPr>
          <a:xfrm>
            <a:off x="6400800" y="1828800"/>
            <a:ext cx="57912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Negative values indicate a reduction in churn probability (Inhibitors).</a:t>
            </a:r>
            <a:endParaRPr lang="en-US" sz="900" dirty="0"/>
          </a:p>
        </p:txBody>
      </p:sp>
      <p:sp>
        <p:nvSpPr>
          <p:cNvPr id="38" name="Text 19"/>
          <p:cNvSpPr/>
          <p:nvPr/>
        </p:nvSpPr>
        <p:spPr>
          <a:xfrm>
            <a:off x="845820" y="6202680"/>
            <a:ext cx="11346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Implication: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Proactive engagement with low-frequency buyers and low-income segments is critical for reducing overall churn.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43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43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43" cy="1162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9610" y="352863"/>
            <a:ext cx="456647" cy="456646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685" y="1428058"/>
            <a:ext cx="5697443" cy="287272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949" y="2025850"/>
            <a:ext cx="5222375" cy="2075666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685" y="4500044"/>
            <a:ext cx="1810500" cy="73063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9027" y="4500044"/>
            <a:ext cx="1810629" cy="73063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52499" y="4500044"/>
            <a:ext cx="1810629" cy="730634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8814" y="1428058"/>
            <a:ext cx="5697443" cy="420504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8078" y="2258325"/>
            <a:ext cx="5272192" cy="3130104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5898783"/>
            <a:ext cx="12191943" cy="959217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5685" y="6164468"/>
            <a:ext cx="2175298" cy="427847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40247" y="6287711"/>
            <a:ext cx="190961" cy="181361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16095" y="6286933"/>
            <a:ext cx="240777" cy="182918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265685" y="265685"/>
            <a:ext cx="11329416" cy="3321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615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Results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265685" y="664213"/>
            <a:ext cx="11926315" cy="23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31"/>
              </a:lnSpc>
              <a:buNone/>
            </a:pPr>
            <a:r>
              <a:rPr lang="en-US" sz="135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Modeling Comparison &amp; Feature Importance</a:t>
            </a:r>
            <a:endParaRPr lang="en-US" sz="1350" dirty="0"/>
          </a:p>
        </p:txBody>
      </p:sp>
      <p:sp>
        <p:nvSpPr>
          <p:cNvPr id="19" name="Text 2"/>
          <p:cNvSpPr/>
          <p:nvPr/>
        </p:nvSpPr>
        <p:spPr>
          <a:xfrm>
            <a:off x="464949" y="1627322"/>
            <a:ext cx="5298916" cy="26568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92"/>
              </a:lnSpc>
              <a:buNone/>
            </a:pPr>
            <a:r>
              <a:rPr lang="en-US" sz="180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Comparison</a:t>
            </a:r>
            <a:endParaRPr lang="en-US" sz="1800" dirty="0"/>
          </a:p>
        </p:txBody>
      </p:sp>
      <p:sp>
        <p:nvSpPr>
          <p:cNvPr id="20" name="Text 3"/>
          <p:cNvSpPr/>
          <p:nvPr/>
        </p:nvSpPr>
        <p:spPr>
          <a:xfrm>
            <a:off x="398528" y="4632886"/>
            <a:ext cx="1544814" cy="1660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21" name="Text 4"/>
          <p:cNvSpPr/>
          <p:nvPr/>
        </p:nvSpPr>
        <p:spPr>
          <a:xfrm>
            <a:off x="398528" y="4798940"/>
            <a:ext cx="1544814" cy="2988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354"/>
              </a:lnSpc>
              <a:buNone/>
            </a:pPr>
            <a:r>
              <a:rPr lang="en-US" sz="225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0.71</a:t>
            </a:r>
            <a:endParaRPr lang="en-US" sz="2250" dirty="0"/>
          </a:p>
        </p:txBody>
      </p:sp>
      <p:sp>
        <p:nvSpPr>
          <p:cNvPr id="22" name="Text 5"/>
          <p:cNvSpPr/>
          <p:nvPr/>
        </p:nvSpPr>
        <p:spPr>
          <a:xfrm>
            <a:off x="2341870" y="4632886"/>
            <a:ext cx="1544944" cy="1660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</a:t>
            </a:r>
            <a:endParaRPr lang="en-US" sz="1050" dirty="0"/>
          </a:p>
        </p:txBody>
      </p:sp>
      <p:sp>
        <p:nvSpPr>
          <p:cNvPr id="23" name="Text 6"/>
          <p:cNvSpPr/>
          <p:nvPr/>
        </p:nvSpPr>
        <p:spPr>
          <a:xfrm>
            <a:off x="2341870" y="4798940"/>
            <a:ext cx="1544944" cy="2988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354"/>
              </a:lnSpc>
              <a:buNone/>
            </a:pPr>
            <a:r>
              <a:rPr lang="en-US" sz="225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0.68</a:t>
            </a:r>
            <a:endParaRPr lang="en-US" sz="2250" dirty="0"/>
          </a:p>
        </p:txBody>
      </p:sp>
      <p:sp>
        <p:nvSpPr>
          <p:cNvPr id="24" name="Text 7"/>
          <p:cNvSpPr/>
          <p:nvPr/>
        </p:nvSpPr>
        <p:spPr>
          <a:xfrm>
            <a:off x="4285342" y="4632886"/>
            <a:ext cx="1544944" cy="1660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F1-SCORE</a:t>
            </a:r>
            <a:endParaRPr lang="en-US" sz="1050" dirty="0"/>
          </a:p>
        </p:txBody>
      </p:sp>
      <p:sp>
        <p:nvSpPr>
          <p:cNvPr id="25" name="Text 8"/>
          <p:cNvSpPr/>
          <p:nvPr/>
        </p:nvSpPr>
        <p:spPr>
          <a:xfrm>
            <a:off x="4285342" y="4798940"/>
            <a:ext cx="1544944" cy="2988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354"/>
              </a:lnSpc>
              <a:buNone/>
            </a:pPr>
            <a:r>
              <a:rPr lang="en-US" sz="225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0.69</a:t>
            </a:r>
            <a:endParaRPr lang="en-US" sz="2250" dirty="0"/>
          </a:p>
        </p:txBody>
      </p:sp>
      <p:sp>
        <p:nvSpPr>
          <p:cNvPr id="26" name="Text 9"/>
          <p:cNvSpPr/>
          <p:nvPr/>
        </p:nvSpPr>
        <p:spPr>
          <a:xfrm>
            <a:off x="6428078" y="1627322"/>
            <a:ext cx="5664701" cy="26568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92"/>
              </a:lnSpc>
              <a:buNone/>
            </a:pPr>
            <a:r>
              <a:rPr lang="en-US" sz="180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Importance</a:t>
            </a:r>
            <a:endParaRPr lang="en-US" sz="1800" dirty="0"/>
          </a:p>
        </p:txBody>
      </p:sp>
      <p:sp>
        <p:nvSpPr>
          <p:cNvPr id="27" name="Text 10"/>
          <p:cNvSpPr/>
          <p:nvPr/>
        </p:nvSpPr>
        <p:spPr>
          <a:xfrm>
            <a:off x="6428078" y="1959429"/>
            <a:ext cx="5298916" cy="1660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08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Weightings</a:t>
            </a:r>
            <a:endParaRPr lang="en-US" sz="1050" dirty="0"/>
          </a:p>
        </p:txBody>
      </p:sp>
      <p:sp>
        <p:nvSpPr>
          <p:cNvPr id="28" name="Text 11"/>
          <p:cNvSpPr/>
          <p:nvPr/>
        </p:nvSpPr>
        <p:spPr>
          <a:xfrm>
            <a:off x="464949" y="6164468"/>
            <a:ext cx="3314164" cy="4278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IMPLICATION</a:t>
            </a:r>
            <a:endParaRPr lang="en-US" sz="1200" dirty="0"/>
          </a:p>
        </p:txBody>
      </p:sp>
      <p:sp>
        <p:nvSpPr>
          <p:cNvPr id="29" name="Text 12"/>
          <p:cNvSpPr/>
          <p:nvPr/>
        </p:nvSpPr>
        <p:spPr>
          <a:xfrm>
            <a:off x="2930840" y="6264100"/>
            <a:ext cx="7902636" cy="2285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 customers with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&lt;3 purchases/year</a:t>
            </a:r>
            <a:endParaRPr lang="en-US" sz="1200" dirty="0"/>
          </a:p>
        </p:txBody>
      </p:sp>
      <p:sp>
        <p:nvSpPr>
          <p:cNvPr id="30" name="Text 13"/>
          <p:cNvSpPr/>
          <p:nvPr/>
        </p:nvSpPr>
        <p:spPr>
          <a:xfrm>
            <a:off x="7756504" y="6264100"/>
            <a:ext cx="4435496" cy="2285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outreach for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below-median income segments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879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879" cy="156654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122" y="1932076"/>
            <a:ext cx="208873" cy="2088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122" y="2297604"/>
            <a:ext cx="6502671" cy="355519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122" y="2297604"/>
            <a:ext cx="6483769" cy="352473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8915" y="1914670"/>
            <a:ext cx="2252729" cy="76586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90892" y="1914670"/>
            <a:ext cx="2252865" cy="76586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8915" y="2924223"/>
            <a:ext cx="278498" cy="27849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72890" y="3013294"/>
            <a:ext cx="130546" cy="10035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98915" y="3668334"/>
            <a:ext cx="278498" cy="278498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85945" y="3755364"/>
            <a:ext cx="104436" cy="104437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98915" y="4412444"/>
            <a:ext cx="278498" cy="278498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99000" y="4502738"/>
            <a:ext cx="78327" cy="97909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98915" y="5191367"/>
            <a:ext cx="4644843" cy="905117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72976" y="5365428"/>
            <a:ext cx="139248" cy="139248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444605"/>
            <a:ext cx="12191879" cy="417746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417746" y="278497"/>
            <a:ext cx="7797929" cy="6962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41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Lifetime Value (CLV) Survival Analysis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417746" y="1044365"/>
            <a:ext cx="10583037" cy="24368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9"/>
              </a:lnSpc>
              <a:buNone/>
            </a:pPr>
            <a:r>
              <a:rPr lang="en-US" sz="1350" dirty="0">
                <a:solidFill>
                  <a:srgbClr val="DBEAFE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Predicting Retention with Kaplan-Meier Modeling</a:t>
            </a:r>
            <a:endParaRPr lang="en-US" sz="1350" dirty="0"/>
          </a:p>
        </p:txBody>
      </p:sp>
      <p:sp>
        <p:nvSpPr>
          <p:cNvPr id="20" name="Text 2"/>
          <p:cNvSpPr/>
          <p:nvPr/>
        </p:nvSpPr>
        <p:spPr>
          <a:xfrm>
            <a:off x="9783583" y="1113990"/>
            <a:ext cx="1990549" cy="1740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371"/>
              </a:lnSpc>
              <a:buNone/>
            </a:pPr>
            <a:r>
              <a:rPr lang="en-US" sz="1050" b="1" spc="92" kern="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4: DATA ANALYSIS</a:t>
            </a:r>
            <a:endParaRPr lang="en-US" sz="1050" dirty="0"/>
          </a:p>
        </p:txBody>
      </p:sp>
      <p:sp>
        <p:nvSpPr>
          <p:cNvPr id="21" name="Text 3"/>
          <p:cNvSpPr/>
          <p:nvPr/>
        </p:nvSpPr>
        <p:spPr>
          <a:xfrm>
            <a:off x="661432" y="1914670"/>
            <a:ext cx="5486400" cy="24368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9"/>
              </a:lnSpc>
              <a:buNone/>
            </a:pPr>
            <a:r>
              <a:rPr lang="en-US" sz="1371" b="1" spc="-30" kern="0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RETENTION CURVE</a:t>
            </a:r>
            <a:endParaRPr lang="en-US" sz="1371" dirty="0"/>
          </a:p>
        </p:txBody>
      </p:sp>
      <p:sp>
        <p:nvSpPr>
          <p:cNvPr id="22" name="Text 4"/>
          <p:cNvSpPr/>
          <p:nvPr/>
        </p:nvSpPr>
        <p:spPr>
          <a:xfrm>
            <a:off x="348122" y="5957235"/>
            <a:ext cx="6502671" cy="1392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96"/>
              </a:lnSpc>
              <a:buNone/>
            </a:pPr>
            <a:r>
              <a:rPr lang="en-US" sz="822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Survival curve shows percentage of active customers over a 350-day period.</a:t>
            </a:r>
            <a:endParaRPr lang="en-US" sz="822" dirty="0"/>
          </a:p>
        </p:txBody>
      </p:sp>
      <p:sp>
        <p:nvSpPr>
          <p:cNvPr id="23" name="Text 5"/>
          <p:cNvSpPr/>
          <p:nvPr/>
        </p:nvSpPr>
        <p:spPr>
          <a:xfrm>
            <a:off x="7338163" y="2053919"/>
            <a:ext cx="1974232" cy="1392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96"/>
              </a:lnSpc>
              <a:buNone/>
            </a:pPr>
            <a:r>
              <a:rPr lang="en-US" sz="822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CLV</a:t>
            </a:r>
            <a:endParaRPr lang="en-US" sz="822" dirty="0"/>
          </a:p>
        </p:txBody>
      </p:sp>
      <p:sp>
        <p:nvSpPr>
          <p:cNvPr id="24" name="Text 6"/>
          <p:cNvSpPr/>
          <p:nvPr/>
        </p:nvSpPr>
        <p:spPr>
          <a:xfrm>
            <a:off x="7338163" y="2227980"/>
            <a:ext cx="1974232" cy="31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67"/>
              </a:lnSpc>
              <a:buNone/>
            </a:pPr>
            <a:r>
              <a:rPr lang="en-US" sz="2056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280 </a:t>
            </a:r>
            <a:pPr indent="0" marL="0">
              <a:lnSpc>
                <a:spcPts val="1371"/>
              </a:lnSpc>
              <a:buNone/>
            </a:pPr>
            <a:r>
              <a:rPr lang="en-US" sz="959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</a:t>
            </a:r>
            <a:endParaRPr lang="en-US" sz="2056" dirty="0"/>
          </a:p>
        </p:txBody>
      </p:sp>
      <p:sp>
        <p:nvSpPr>
          <p:cNvPr id="25" name="Text 7"/>
          <p:cNvSpPr/>
          <p:nvPr/>
        </p:nvSpPr>
        <p:spPr>
          <a:xfrm>
            <a:off x="9730141" y="2053919"/>
            <a:ext cx="2286000" cy="1392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96"/>
              </a:lnSpc>
              <a:buNone/>
            </a:pPr>
            <a:r>
              <a:rPr lang="en-US" sz="822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YEAR-1 RETENTION</a:t>
            </a:r>
            <a:endParaRPr lang="en-US" sz="822" dirty="0"/>
          </a:p>
        </p:txBody>
      </p:sp>
      <p:sp>
        <p:nvSpPr>
          <p:cNvPr id="26" name="Text 8"/>
          <p:cNvSpPr/>
          <p:nvPr/>
        </p:nvSpPr>
        <p:spPr>
          <a:xfrm>
            <a:off x="9730141" y="2227980"/>
            <a:ext cx="1974368" cy="31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67"/>
              </a:lnSpc>
              <a:buNone/>
            </a:pPr>
            <a:r>
              <a:rPr lang="en-US" sz="2056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</a:t>
            </a:r>
            <a:endParaRPr lang="en-US" sz="2056" dirty="0"/>
          </a:p>
        </p:txBody>
      </p:sp>
      <p:sp>
        <p:nvSpPr>
          <p:cNvPr id="27" name="Text 9"/>
          <p:cNvSpPr/>
          <p:nvPr/>
        </p:nvSpPr>
        <p:spPr>
          <a:xfrm>
            <a:off x="7616661" y="2889411"/>
            <a:ext cx="4575339" cy="2088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45"/>
              </a:lnSpc>
              <a:buNone/>
            </a:pPr>
            <a:r>
              <a:rPr lang="en-US" sz="1096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Onboarding Period</a:t>
            </a:r>
            <a:endParaRPr lang="en-US" sz="1096" dirty="0"/>
          </a:p>
        </p:txBody>
      </p:sp>
      <p:sp>
        <p:nvSpPr>
          <p:cNvPr id="28" name="Text 10"/>
          <p:cNvSpPr/>
          <p:nvPr/>
        </p:nvSpPr>
        <p:spPr>
          <a:xfrm>
            <a:off x="7616661" y="3098284"/>
            <a:ext cx="4227097" cy="3959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59"/>
              </a:lnSpc>
              <a:buNone/>
            </a:pPr>
            <a:r>
              <a:rPr lang="en-US" sz="959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60 days are vital; early engagement programs significantly reduce initial drop-off.</a:t>
            </a:r>
            <a:endParaRPr lang="en-US" sz="959" dirty="0"/>
          </a:p>
        </p:txBody>
      </p:sp>
      <p:sp>
        <p:nvSpPr>
          <p:cNvPr id="29" name="Text 11"/>
          <p:cNvSpPr/>
          <p:nvPr/>
        </p:nvSpPr>
        <p:spPr>
          <a:xfrm>
            <a:off x="7616661" y="3633522"/>
            <a:ext cx="4227097" cy="2088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45"/>
              </a:lnSpc>
              <a:buNone/>
            </a:pPr>
            <a:r>
              <a:rPr lang="en-US" sz="1096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 Milestones</a:t>
            </a:r>
            <a:endParaRPr lang="en-US" sz="1096" dirty="0"/>
          </a:p>
        </p:txBody>
      </p:sp>
      <p:sp>
        <p:nvSpPr>
          <p:cNvPr id="30" name="Text 12"/>
          <p:cNvSpPr/>
          <p:nvPr/>
        </p:nvSpPr>
        <p:spPr>
          <a:xfrm>
            <a:off x="7616661" y="3842395"/>
            <a:ext cx="4227097" cy="3959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59"/>
              </a:lnSpc>
              <a:buNone/>
            </a:pPr>
            <a:r>
              <a:rPr lang="en-US" sz="959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 retention at Day 100; drops to 72% by Day 200 before stabilizing near one year.</a:t>
            </a:r>
            <a:endParaRPr lang="en-US" sz="959" dirty="0"/>
          </a:p>
        </p:txBody>
      </p:sp>
      <p:sp>
        <p:nvSpPr>
          <p:cNvPr id="31" name="Text 13"/>
          <p:cNvSpPr/>
          <p:nvPr/>
        </p:nvSpPr>
        <p:spPr>
          <a:xfrm>
            <a:off x="7616661" y="4377632"/>
            <a:ext cx="4227097" cy="2088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45"/>
              </a:lnSpc>
              <a:buNone/>
            </a:pPr>
            <a:r>
              <a:rPr lang="en-US" sz="1096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Implication</a:t>
            </a:r>
            <a:endParaRPr lang="en-US" sz="1096" dirty="0"/>
          </a:p>
        </p:txBody>
      </p:sp>
      <p:sp>
        <p:nvSpPr>
          <p:cNvPr id="32" name="Text 14"/>
          <p:cNvSpPr/>
          <p:nvPr/>
        </p:nvSpPr>
        <p:spPr>
          <a:xfrm>
            <a:off x="7616661" y="4586505"/>
            <a:ext cx="4227097" cy="3959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59"/>
              </a:lnSpc>
              <a:buNone/>
            </a:pPr>
            <a:r>
              <a:rPr lang="en-US" sz="959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Focusing resources on Day 0-60 yields the highest ROI for long-term customer equity.</a:t>
            </a:r>
            <a:endParaRPr lang="en-US" sz="959" dirty="0"/>
          </a:p>
        </p:txBody>
      </p:sp>
      <p:sp>
        <p:nvSpPr>
          <p:cNvPr id="33" name="Text 15"/>
          <p:cNvSpPr/>
          <p:nvPr/>
        </p:nvSpPr>
        <p:spPr>
          <a:xfrm>
            <a:off x="7581849" y="5365428"/>
            <a:ext cx="2468880" cy="1392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96"/>
              </a:lnSpc>
              <a:buNone/>
            </a:pPr>
            <a:r>
              <a:rPr lang="en-US" sz="822" b="1" spc="72" kern="0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ACTIONABLE INSIGHT</a:t>
            </a:r>
            <a:endParaRPr lang="en-US" sz="822" dirty="0"/>
          </a:p>
        </p:txBody>
      </p:sp>
      <p:sp>
        <p:nvSpPr>
          <p:cNvPr id="34" name="Text 16"/>
          <p:cNvSpPr/>
          <p:nvPr/>
        </p:nvSpPr>
        <p:spPr>
          <a:xfrm>
            <a:off x="7372976" y="5574301"/>
            <a:ext cx="4296721" cy="3481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71"/>
              </a:lnSpc>
              <a:buNone/>
            </a:pPr>
            <a:r>
              <a:rPr lang="en-US" sz="959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"Survival curves stabilize after 150 days. The battle for retention is won or lost in the digital onboarding experience."</a:t>
            </a:r>
            <a:endParaRPr lang="en-US" sz="959" dirty="0"/>
          </a:p>
        </p:txBody>
      </p:sp>
      <p:sp>
        <p:nvSpPr>
          <p:cNvPr id="35" name="Text 17"/>
          <p:cNvSpPr/>
          <p:nvPr/>
        </p:nvSpPr>
        <p:spPr>
          <a:xfrm>
            <a:off x="417746" y="6583854"/>
            <a:ext cx="7680960" cy="1392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96"/>
              </a:lnSpc>
              <a:buNone/>
            </a:pPr>
            <a:r>
              <a:rPr lang="en-US" sz="82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Modeling • Kaplan-Meier Method • CRM Strategy</a:t>
            </a:r>
            <a:endParaRPr lang="en-US" sz="822" dirty="0"/>
          </a:p>
        </p:txBody>
      </p:sp>
      <p:sp>
        <p:nvSpPr>
          <p:cNvPr id="36" name="Text 18"/>
          <p:cNvSpPr/>
          <p:nvPr/>
        </p:nvSpPr>
        <p:spPr>
          <a:xfrm>
            <a:off x="10494785" y="6583854"/>
            <a:ext cx="1697215" cy="1392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96"/>
              </a:lnSpc>
              <a:buNone/>
            </a:pPr>
            <a:r>
              <a:rPr lang="en-US" sz="822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FORD MOTOR COMPANY</a:t>
            </a:r>
            <a:endParaRPr lang="en-US" sz="82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2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26" cy="112734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9772" y="273562"/>
            <a:ext cx="572212" cy="58008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943" y="1400638"/>
            <a:ext cx="3676807" cy="150018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752" y="1588661"/>
            <a:ext cx="213512" cy="19402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3397" y="1400638"/>
            <a:ext cx="3676808" cy="150018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4207" y="1588928"/>
            <a:ext cx="145188" cy="19349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9943" y="3037473"/>
            <a:ext cx="3676807" cy="1500321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0752" y="3223628"/>
            <a:ext cx="187890" cy="197766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23397" y="3037473"/>
            <a:ext cx="3676808" cy="1500321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94207" y="3225764"/>
            <a:ext cx="145188" cy="19349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9943" y="4674441"/>
            <a:ext cx="3676807" cy="1500321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0752" y="4860597"/>
            <a:ext cx="187890" cy="19776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23397" y="4674441"/>
            <a:ext cx="3676808" cy="1500321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94207" y="4863933"/>
            <a:ext cx="239133" cy="191226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73500" y="1400638"/>
            <a:ext cx="3608483" cy="331570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78471" y="1970848"/>
            <a:ext cx="3185596" cy="1878904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73500" y="4921314"/>
            <a:ext cx="3608483" cy="1253448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44309" y="5128288"/>
            <a:ext cx="136647" cy="156131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6448058"/>
            <a:ext cx="12191926" cy="409942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409943" y="273295"/>
            <a:ext cx="9637204" cy="3416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690"/>
              </a:lnSpc>
              <a:buNone/>
            </a:pPr>
            <a:r>
              <a:rPr lang="en-US" sz="2700" b="1" spc="-6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Research Findings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409943" y="614914"/>
            <a:ext cx="11782057" cy="2391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83"/>
              </a:lnSpc>
              <a:buNone/>
            </a:pPr>
            <a:r>
              <a:rPr lang="en-US" sz="135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from Customer Data Analysis &amp; Predictive Modeling</a:t>
            </a:r>
            <a:endParaRPr lang="en-US" sz="1350" dirty="0"/>
          </a:p>
        </p:txBody>
      </p:sp>
      <p:sp>
        <p:nvSpPr>
          <p:cNvPr id="24" name="Text 2"/>
          <p:cNvSpPr/>
          <p:nvPr/>
        </p:nvSpPr>
        <p:spPr>
          <a:xfrm>
            <a:off x="896750" y="1571447"/>
            <a:ext cx="3671307" cy="2285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 Frequency</a:t>
            </a:r>
            <a:endParaRPr lang="en-US" sz="1200" dirty="0"/>
          </a:p>
        </p:txBody>
      </p:sp>
      <p:sp>
        <p:nvSpPr>
          <p:cNvPr id="25" name="Text 3"/>
          <p:cNvSpPr/>
          <p:nvPr/>
        </p:nvSpPr>
        <p:spPr>
          <a:xfrm>
            <a:off x="580752" y="1868362"/>
            <a:ext cx="3335188" cy="5496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44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High-frequency purchasers (3+ transactions/year) exhibit significantly lower churn rates, driving depth of engagement.</a:t>
            </a:r>
            <a:endParaRPr lang="en-US" sz="1050" dirty="0"/>
          </a:p>
        </p:txBody>
      </p:sp>
      <p:sp>
        <p:nvSpPr>
          <p:cNvPr id="26" name="Text 4"/>
          <p:cNvSpPr/>
          <p:nvPr/>
        </p:nvSpPr>
        <p:spPr>
          <a:xfrm>
            <a:off x="4641881" y="1571447"/>
            <a:ext cx="3467345" cy="2285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Ecosystem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4394207" y="1868362"/>
            <a:ext cx="3335188" cy="36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44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FordPass is critical; connected vehicle owners show higher engagement scores and brand loyalty.</a:t>
            </a:r>
            <a:endParaRPr lang="en-US" sz="1050" dirty="0"/>
          </a:p>
        </p:txBody>
      </p:sp>
      <p:sp>
        <p:nvSpPr>
          <p:cNvPr id="28" name="Text 6"/>
          <p:cNvSpPr/>
          <p:nvPr/>
        </p:nvSpPr>
        <p:spPr>
          <a:xfrm>
            <a:off x="871128" y="3208282"/>
            <a:ext cx="3671307" cy="2285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Income Correlation</a:t>
            </a:r>
            <a:endParaRPr lang="en-US" sz="1200" dirty="0"/>
          </a:p>
        </p:txBody>
      </p:sp>
      <p:sp>
        <p:nvSpPr>
          <p:cNvPr id="29" name="Text 7"/>
          <p:cNvSpPr/>
          <p:nvPr/>
        </p:nvSpPr>
        <p:spPr>
          <a:xfrm>
            <a:off x="580752" y="3505197"/>
            <a:ext cx="3335188" cy="5496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44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Income is a strong predictor of churn. Low-income segments require targeted retention and flexible financing.</a:t>
            </a:r>
            <a:endParaRPr lang="en-US" sz="1050" dirty="0"/>
          </a:p>
        </p:txBody>
      </p:sp>
      <p:sp>
        <p:nvSpPr>
          <p:cNvPr id="30" name="Text 8"/>
          <p:cNvSpPr/>
          <p:nvPr/>
        </p:nvSpPr>
        <p:spPr>
          <a:xfrm>
            <a:off x="4641881" y="3208282"/>
            <a:ext cx="4759101" cy="2285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60-Day Window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4394207" y="3505197"/>
            <a:ext cx="3335188" cy="36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44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without FordPass engagement or service within 60 days are </a:t>
            </a:r>
            <a:pPr indent="0" marL="0">
              <a:lnSpc>
                <a:spcPts val="1444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3x more likely</a:t>
            </a:r>
            <a:pPr indent="0" marL="0">
              <a:lnSpc>
                <a:spcPts val="1444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churn.</a:t>
            </a:r>
            <a:endParaRPr lang="en-US" sz="1050" dirty="0"/>
          </a:p>
        </p:txBody>
      </p:sp>
      <p:sp>
        <p:nvSpPr>
          <p:cNvPr id="32" name="Text 10"/>
          <p:cNvSpPr/>
          <p:nvPr/>
        </p:nvSpPr>
        <p:spPr>
          <a:xfrm>
            <a:off x="871128" y="4845251"/>
            <a:ext cx="3875268" cy="2285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Predictive Power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580752" y="5142166"/>
            <a:ext cx="3335188" cy="36643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44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(Random Forest) proactively identifies at-risk customers with 70% accuracy.</a:t>
            </a:r>
            <a:endParaRPr lang="en-US" sz="1050" dirty="0"/>
          </a:p>
        </p:txBody>
      </p:sp>
      <p:sp>
        <p:nvSpPr>
          <p:cNvPr id="34" name="Text 12"/>
          <p:cNvSpPr/>
          <p:nvPr/>
        </p:nvSpPr>
        <p:spPr>
          <a:xfrm>
            <a:off x="4735826" y="4845251"/>
            <a:ext cx="3059422" cy="2285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Equity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4394207" y="5142166"/>
            <a:ext cx="3335188" cy="5496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44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Equity is maximized when combining digital engagement, service loyalty programs, and personalization.</a:t>
            </a:r>
            <a:endParaRPr lang="en-US" sz="1050" dirty="0"/>
          </a:p>
        </p:txBody>
      </p:sp>
      <p:sp>
        <p:nvSpPr>
          <p:cNvPr id="36" name="Text 14"/>
          <p:cNvSpPr/>
          <p:nvPr/>
        </p:nvSpPr>
        <p:spPr>
          <a:xfrm>
            <a:off x="8378471" y="1605609"/>
            <a:ext cx="3198541" cy="2285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Accuracy Comparison</a:t>
            </a:r>
            <a:endParaRPr lang="en-US" sz="1200" dirty="0"/>
          </a:p>
        </p:txBody>
      </p:sp>
      <p:sp>
        <p:nvSpPr>
          <p:cNvPr id="37" name="Text 15"/>
          <p:cNvSpPr/>
          <p:nvPr/>
        </p:nvSpPr>
        <p:spPr>
          <a:xfrm>
            <a:off x="8378471" y="3918076"/>
            <a:ext cx="3198541" cy="27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76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outperformed other models in predicting churn risk.</a:t>
            </a:r>
            <a:endParaRPr lang="en-US" sz="900" dirty="0"/>
          </a:p>
        </p:txBody>
      </p:sp>
      <p:sp>
        <p:nvSpPr>
          <p:cNvPr id="38" name="Text 16"/>
          <p:cNvSpPr/>
          <p:nvPr/>
        </p:nvSpPr>
        <p:spPr>
          <a:xfrm>
            <a:off x="8549280" y="5092123"/>
            <a:ext cx="2651499" cy="2285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Survival Stat</a:t>
            </a:r>
            <a:endParaRPr lang="en-US" sz="1200" dirty="0"/>
          </a:p>
        </p:txBody>
      </p:sp>
      <p:sp>
        <p:nvSpPr>
          <p:cNvPr id="39" name="Text 17"/>
          <p:cNvSpPr/>
          <p:nvPr/>
        </p:nvSpPr>
        <p:spPr>
          <a:xfrm>
            <a:off x="8344309" y="5389039"/>
            <a:ext cx="3266865" cy="27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52"/>
              </a:lnSpc>
              <a:buNone/>
            </a:pPr>
            <a:r>
              <a:rPr lang="en-US" sz="18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</a:t>
            </a:r>
            <a:endParaRPr lang="en-US" sz="1800" dirty="0"/>
          </a:p>
        </p:txBody>
      </p:sp>
      <p:sp>
        <p:nvSpPr>
          <p:cNvPr id="40" name="Text 18"/>
          <p:cNvSpPr/>
          <p:nvPr/>
        </p:nvSpPr>
        <p:spPr>
          <a:xfrm>
            <a:off x="8344309" y="5662334"/>
            <a:ext cx="3266865" cy="3416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45"/>
              </a:lnSpc>
              <a:buNone/>
            </a:pPr>
            <a:r>
              <a:rPr lang="en-US" sz="105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retained beyond one full year (350+ days).</a:t>
            </a:r>
            <a:endParaRPr lang="en-US" sz="1050" dirty="0"/>
          </a:p>
        </p:txBody>
      </p:sp>
      <p:sp>
        <p:nvSpPr>
          <p:cNvPr id="41" name="Text 19"/>
          <p:cNvSpPr/>
          <p:nvPr/>
        </p:nvSpPr>
        <p:spPr>
          <a:xfrm>
            <a:off x="409943" y="6584705"/>
            <a:ext cx="4589134" cy="1366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76"/>
              </a:lnSpc>
              <a:buNone/>
            </a:pPr>
            <a:r>
              <a:rPr lang="en-US" sz="900" spc="8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FORD MOTOR COMPANY CRM PROJECT</a:t>
            </a:r>
            <a:endParaRPr lang="en-US" sz="900" dirty="0"/>
          </a:p>
        </p:txBody>
      </p:sp>
      <p:sp>
        <p:nvSpPr>
          <p:cNvPr id="42" name="Text 20"/>
          <p:cNvSpPr/>
          <p:nvPr/>
        </p:nvSpPr>
        <p:spPr>
          <a:xfrm>
            <a:off x="10292204" y="6584705"/>
            <a:ext cx="1899796" cy="1366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76"/>
              </a:lnSpc>
              <a:buNone/>
            </a:pPr>
            <a:r>
              <a:rPr lang="en-US" sz="900" spc="8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FINDINGS &amp; ANALYSIS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562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43100"/>
            <a:ext cx="3606701" cy="148828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171700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2501" y="1943100"/>
            <a:ext cx="3606850" cy="148828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7950" y="1943100"/>
            <a:ext cx="3606701" cy="1488281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6550" y="2171700"/>
            <a:ext cx="171450" cy="2286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2599" y="3659981"/>
            <a:ext cx="3759101" cy="1488281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51199" y="3888581"/>
            <a:ext cx="228600" cy="228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3659981"/>
            <a:ext cx="3759101" cy="1488281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3888581"/>
            <a:ext cx="285750" cy="2286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6248400"/>
            <a:ext cx="12192000" cy="609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6534150"/>
            <a:ext cx="304800" cy="381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457200" y="381000"/>
            <a:ext cx="1173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Recommendations</a:t>
            </a:r>
            <a:endParaRPr lang="en-US" sz="3600" dirty="0"/>
          </a:p>
        </p:txBody>
      </p:sp>
      <p:sp>
        <p:nvSpPr>
          <p:cNvPr id="16" name="Text 1"/>
          <p:cNvSpPr/>
          <p:nvPr/>
        </p:nvSpPr>
        <p:spPr>
          <a:xfrm>
            <a:off x="457200" y="91440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Optimizing Customer Retention &amp; Lifetime Value</a:t>
            </a:r>
            <a:endParaRPr lang="en-US" sz="1500" dirty="0"/>
          </a:p>
        </p:txBody>
      </p:sp>
      <p:sp>
        <p:nvSpPr>
          <p:cNvPr id="17" name="Text 2"/>
          <p:cNvSpPr/>
          <p:nvPr/>
        </p:nvSpPr>
        <p:spPr>
          <a:xfrm>
            <a:off x="9400729" y="990600"/>
            <a:ext cx="23340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050" spc="84" kern="0" dirty="0">
                <a:solidFill>
                  <a:srgbClr val="FFFFFF">
                    <a:alpha val="50000"/>
                  </a:srgbClr>
                </a:solidFill>
              </a:rPr>
              <a:t>FORD+ TRANSFORMATION PLAN</a:t>
            </a:r>
            <a:endParaRPr lang="en-US" sz="1050" dirty="0"/>
          </a:p>
        </p:txBody>
      </p:sp>
      <p:sp>
        <p:nvSpPr>
          <p:cNvPr id="18" name="Text 3"/>
          <p:cNvSpPr/>
          <p:nvPr/>
        </p:nvSpPr>
        <p:spPr>
          <a:xfrm>
            <a:off x="1028700" y="2178844"/>
            <a:ext cx="493776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35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Service Alerts</a:t>
            </a:r>
            <a:endParaRPr lang="en-US" sz="1350" dirty="0"/>
          </a:p>
        </p:txBody>
      </p:sp>
      <p:sp>
        <p:nvSpPr>
          <p:cNvPr id="19" name="Text 4"/>
          <p:cNvSpPr/>
          <p:nvPr/>
        </p:nvSpPr>
        <p:spPr>
          <a:xfrm>
            <a:off x="685800" y="2552700"/>
            <a:ext cx="3149501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 </a:t>
            </a:r>
            <a:pPr indent="0" marL="0">
              <a:lnSpc>
                <a:spcPts val="1706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Vehicle Data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(telematics) to send automated maintenance reminders, reducing service gaps and reactivating dormant users.</a:t>
            </a:r>
            <a:endParaRPr lang="en-US" sz="1050" dirty="0"/>
          </a:p>
        </p:txBody>
      </p:sp>
      <p:sp>
        <p:nvSpPr>
          <p:cNvPr id="20" name="Text 5"/>
          <p:cNvSpPr/>
          <p:nvPr/>
        </p:nvSpPr>
        <p:spPr>
          <a:xfrm>
            <a:off x="4635401" y="2171700"/>
            <a:ext cx="493776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35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Segment Support</a:t>
            </a:r>
            <a:endParaRPr lang="en-US" sz="1350" dirty="0"/>
          </a:p>
        </p:txBody>
      </p:sp>
      <p:sp>
        <p:nvSpPr>
          <p:cNvPr id="21" name="Text 6"/>
          <p:cNvSpPr/>
          <p:nvPr/>
        </p:nvSpPr>
        <p:spPr>
          <a:xfrm>
            <a:off x="4521101" y="2538413"/>
            <a:ext cx="3149650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</a:t>
            </a:r>
            <a:pPr indent="0" marL="0">
              <a:lnSpc>
                <a:spcPts val="1706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income-sensitive loyalty rewards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flexible financing packages for at-risk segments to maintain price-sensitive loyalty.</a:t>
            </a:r>
            <a:endParaRPr lang="en-US" sz="1050" dirty="0"/>
          </a:p>
        </p:txBody>
      </p:sp>
      <p:sp>
        <p:nvSpPr>
          <p:cNvPr id="22" name="Text 7"/>
          <p:cNvSpPr/>
          <p:nvPr/>
        </p:nvSpPr>
        <p:spPr>
          <a:xfrm>
            <a:off x="8642300" y="2178844"/>
            <a:ext cx="35497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35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60-Day Onboarding</a:t>
            </a:r>
            <a:endParaRPr lang="en-US" sz="1350" dirty="0"/>
          </a:p>
        </p:txBody>
      </p:sp>
      <p:sp>
        <p:nvSpPr>
          <p:cNvPr id="23" name="Text 8"/>
          <p:cNvSpPr/>
          <p:nvPr/>
        </p:nvSpPr>
        <p:spPr>
          <a:xfrm>
            <a:off x="8356550" y="2552700"/>
            <a:ext cx="3149501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a structured journey within the </a:t>
            </a:r>
            <a:pPr indent="0" marL="0">
              <a:lnSpc>
                <a:spcPts val="1706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first 60 days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including FordPass enrollment incentives and first service scheduling.</a:t>
            </a:r>
            <a:endParaRPr lang="en-US" sz="1050" dirty="0"/>
          </a:p>
        </p:txBody>
      </p:sp>
      <p:sp>
        <p:nvSpPr>
          <p:cNvPr id="24" name="Text 9"/>
          <p:cNvSpPr/>
          <p:nvPr/>
        </p:nvSpPr>
        <p:spPr>
          <a:xfrm>
            <a:off x="2794099" y="3895725"/>
            <a:ext cx="4732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35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Scoring Dashboard</a:t>
            </a:r>
            <a:endParaRPr lang="en-US" sz="1350" dirty="0"/>
          </a:p>
        </p:txBody>
      </p:sp>
      <p:sp>
        <p:nvSpPr>
          <p:cNvPr id="25" name="Text 10"/>
          <p:cNvSpPr/>
          <p:nvPr/>
        </p:nvSpPr>
        <p:spPr>
          <a:xfrm>
            <a:off x="2451199" y="4269581"/>
            <a:ext cx="3301901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</a:t>
            </a:r>
            <a:pPr indent="0" marL="0">
              <a:lnSpc>
                <a:spcPts val="1706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predictive models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into dealer CRM systems to provide real-time "at-risk" scores for proactive outreach.</a:t>
            </a:r>
            <a:endParaRPr lang="en-US" sz="1050" dirty="0"/>
          </a:p>
        </p:txBody>
      </p:sp>
      <p:sp>
        <p:nvSpPr>
          <p:cNvPr id="26" name="Text 11"/>
          <p:cNvSpPr/>
          <p:nvPr/>
        </p:nvSpPr>
        <p:spPr>
          <a:xfrm>
            <a:off x="6838950" y="3895725"/>
            <a:ext cx="51435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35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Loyalty Ecosystem</a:t>
            </a:r>
            <a:endParaRPr lang="en-US" sz="1350" dirty="0"/>
          </a:p>
        </p:txBody>
      </p:sp>
      <p:sp>
        <p:nvSpPr>
          <p:cNvPr id="27" name="Text 12"/>
          <p:cNvSpPr/>
          <p:nvPr/>
        </p:nvSpPr>
        <p:spPr>
          <a:xfrm>
            <a:off x="6438900" y="4269581"/>
            <a:ext cx="3301901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Unify FordPass, Ford Credit, and Dealership points into a </a:t>
            </a:r>
            <a:pPr indent="0" marL="0">
              <a:lnSpc>
                <a:spcPts val="1706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rewards ecosystem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drive multi-touchpoint brand engagement.</a:t>
            </a:r>
            <a:endParaRPr lang="en-US" sz="1050" dirty="0"/>
          </a:p>
        </p:txBody>
      </p:sp>
      <p:sp>
        <p:nvSpPr>
          <p:cNvPr id="28" name="Text 13"/>
          <p:cNvSpPr/>
          <p:nvPr/>
        </p:nvSpPr>
        <p:spPr>
          <a:xfrm>
            <a:off x="838200" y="6477000"/>
            <a:ext cx="4114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72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APPLICATIONS OF CRM TECHNIQUES</a:t>
            </a:r>
            <a:endParaRPr lang="en-US" sz="900" dirty="0"/>
          </a:p>
        </p:txBody>
      </p:sp>
      <p:sp>
        <p:nvSpPr>
          <p:cNvPr id="29" name="Text 14"/>
          <p:cNvSpPr/>
          <p:nvPr/>
        </p:nvSpPr>
        <p:spPr>
          <a:xfrm>
            <a:off x="11039475" y="6477000"/>
            <a:ext cx="1152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13 of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5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50" cy="129285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3942" y="363116"/>
            <a:ext cx="432227" cy="56662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782" y="1581005"/>
            <a:ext cx="14745" cy="84509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782" y="2656620"/>
            <a:ext cx="5570100" cy="91634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042" y="2800695"/>
            <a:ext cx="288151" cy="230521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782" y="3745854"/>
            <a:ext cx="5570100" cy="916343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042" y="3889929"/>
            <a:ext cx="288151" cy="230521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5782" y="4835088"/>
            <a:ext cx="5570100" cy="916343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1042" y="4979164"/>
            <a:ext cx="230521" cy="230521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1662" y="1581005"/>
            <a:ext cx="5584507" cy="4988844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13159" y="2291703"/>
            <a:ext cx="2881513" cy="216113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92183" y="5545899"/>
            <a:ext cx="5123465" cy="630106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45782" y="288151"/>
            <a:ext cx="7254244" cy="45721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17" name="Text 1"/>
          <p:cNvSpPr/>
          <p:nvPr/>
        </p:nvSpPr>
        <p:spPr>
          <a:xfrm>
            <a:off x="345782" y="802997"/>
            <a:ext cx="11846218" cy="2017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88"/>
              </a:lnSpc>
              <a:buNone/>
            </a:pPr>
            <a:r>
              <a:rPr lang="en-US" sz="150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Ford's CRM as a Strategic Organizational Capability</a:t>
            </a:r>
            <a:endParaRPr lang="en-US" sz="1500" dirty="0"/>
          </a:p>
        </p:txBody>
      </p:sp>
      <p:sp>
        <p:nvSpPr>
          <p:cNvPr id="18" name="Text 2"/>
          <p:cNvSpPr/>
          <p:nvPr/>
        </p:nvSpPr>
        <p:spPr>
          <a:xfrm>
            <a:off x="475787" y="1581005"/>
            <a:ext cx="8342367" cy="2305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15"/>
              </a:lnSpc>
              <a:buNone/>
            </a:pPr>
            <a:r>
              <a:rPr lang="en-US" sz="180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Transformative Strategy</a:t>
            </a:r>
            <a:endParaRPr lang="en-US" sz="1800" dirty="0"/>
          </a:p>
        </p:txBody>
      </p:sp>
      <p:sp>
        <p:nvSpPr>
          <p:cNvPr id="19" name="Text 3"/>
          <p:cNvSpPr/>
          <p:nvPr/>
        </p:nvSpPr>
        <p:spPr>
          <a:xfrm>
            <a:off x="475787" y="1869156"/>
            <a:ext cx="5440094" cy="55694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Ford has evolved CRM from a tech tool into a </a:t>
            </a:r>
            <a:pPr indent="0" marL="0">
              <a:lnSpc>
                <a:spcPts val="2194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capability</a:t>
            </a:r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moving beyond transactions to build enduring customer equity.</a:t>
            </a:r>
            <a:endParaRPr lang="en-US" sz="1350" dirty="0"/>
          </a:p>
        </p:txBody>
      </p:sp>
      <p:sp>
        <p:nvSpPr>
          <p:cNvPr id="20" name="Text 4"/>
          <p:cNvSpPr/>
          <p:nvPr/>
        </p:nvSpPr>
        <p:spPr>
          <a:xfrm>
            <a:off x="864454" y="2771880"/>
            <a:ext cx="5803404" cy="2286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Omni-channel Integration</a:t>
            </a:r>
            <a:endParaRPr lang="en-US" sz="1200" dirty="0"/>
          </a:p>
        </p:txBody>
      </p:sp>
      <p:sp>
        <p:nvSpPr>
          <p:cNvPr id="21" name="Text 5"/>
          <p:cNvSpPr/>
          <p:nvPr/>
        </p:nvSpPr>
        <p:spPr>
          <a:xfrm>
            <a:off x="864454" y="3022099"/>
            <a:ext cx="4668051" cy="4087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Seamlessly connecting FordPass, connected vehicle data, and AI analytics.</a:t>
            </a:r>
            <a:endParaRPr lang="en-US" sz="1200" dirty="0"/>
          </a:p>
        </p:txBody>
      </p:sp>
      <p:sp>
        <p:nvSpPr>
          <p:cNvPr id="22" name="Text 6"/>
          <p:cNvSpPr/>
          <p:nvPr/>
        </p:nvSpPr>
        <p:spPr>
          <a:xfrm>
            <a:off x="864454" y="3861114"/>
            <a:ext cx="4936166" cy="22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Lifelong Advocacy</a:t>
            </a:r>
            <a:endParaRPr lang="en-US" sz="1200" dirty="0"/>
          </a:p>
        </p:txBody>
      </p:sp>
      <p:sp>
        <p:nvSpPr>
          <p:cNvPr id="23" name="Text 7"/>
          <p:cNvSpPr/>
          <p:nvPr/>
        </p:nvSpPr>
        <p:spPr>
          <a:xfrm>
            <a:off x="864454" y="4111333"/>
            <a:ext cx="4372696" cy="4087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Transforming one-time buyers into brand advocates through personalized relationships.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806824" y="4950348"/>
            <a:ext cx="4993796" cy="22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Outlook</a:t>
            </a:r>
            <a:endParaRPr lang="en-US" sz="1200" dirty="0"/>
          </a:p>
        </p:txBody>
      </p:sp>
      <p:sp>
        <p:nvSpPr>
          <p:cNvPr id="25" name="Text 9"/>
          <p:cNvSpPr/>
          <p:nvPr/>
        </p:nvSpPr>
        <p:spPr>
          <a:xfrm>
            <a:off x="806824" y="5200567"/>
            <a:ext cx="4797719" cy="4087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Expansion of FordPass capabilities and proactive churn prevention programs.</a:t>
            </a:r>
            <a:endParaRPr lang="en-US" sz="1200" dirty="0"/>
          </a:p>
        </p:txBody>
      </p:sp>
      <p:sp>
        <p:nvSpPr>
          <p:cNvPr id="26" name="Text 10"/>
          <p:cNvSpPr/>
          <p:nvPr/>
        </p:nvSpPr>
        <p:spPr>
          <a:xfrm>
            <a:off x="7656382" y="1974737"/>
            <a:ext cx="2795068" cy="2017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88"/>
              </a:lnSpc>
              <a:buNone/>
            </a:pPr>
            <a:r>
              <a:rPr lang="en-US" sz="150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Long-Term Retention Success</a:t>
            </a:r>
            <a:endParaRPr lang="en-US" sz="1500" dirty="0"/>
          </a:p>
        </p:txBody>
      </p:sp>
      <p:sp>
        <p:nvSpPr>
          <p:cNvPr id="27" name="Text 11"/>
          <p:cNvSpPr/>
          <p:nvPr/>
        </p:nvSpPr>
        <p:spPr>
          <a:xfrm>
            <a:off x="7587946" y="4568098"/>
            <a:ext cx="2931939" cy="1440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1050" b="1" spc="111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PERFORMANCE INDICATOR</a:t>
            </a:r>
            <a:endParaRPr lang="en-US" sz="1050" dirty="0"/>
          </a:p>
        </p:txBody>
      </p:sp>
      <p:sp>
        <p:nvSpPr>
          <p:cNvPr id="28" name="Text 12"/>
          <p:cNvSpPr/>
          <p:nvPr/>
        </p:nvSpPr>
        <p:spPr>
          <a:xfrm>
            <a:off x="7587946" y="4740989"/>
            <a:ext cx="2931939" cy="2881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69"/>
              </a:lnSpc>
              <a:buNone/>
            </a:pPr>
            <a:r>
              <a:rPr lang="en-US" sz="270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 Retention</a:t>
            </a:r>
            <a:endParaRPr lang="en-US" sz="2700" dirty="0"/>
          </a:p>
        </p:txBody>
      </p:sp>
      <p:sp>
        <p:nvSpPr>
          <p:cNvPr id="29" name="Text 13"/>
          <p:cNvSpPr/>
          <p:nvPr/>
        </p:nvSpPr>
        <p:spPr>
          <a:xfrm>
            <a:off x="7587946" y="5086770"/>
            <a:ext cx="2931939" cy="22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retained beyond one full year</a:t>
            </a:r>
            <a:endParaRPr lang="en-US" sz="1200" dirty="0"/>
          </a:p>
        </p:txBody>
      </p:sp>
      <p:sp>
        <p:nvSpPr>
          <p:cNvPr id="30" name="Text 14"/>
          <p:cNvSpPr/>
          <p:nvPr/>
        </p:nvSpPr>
        <p:spPr>
          <a:xfrm>
            <a:off x="6492183" y="5718790"/>
            <a:ext cx="5123465" cy="45721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"Building Enduring Customer Relationships —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Data Point at a Time"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52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838450"/>
            <a:ext cx="10668000" cy="9144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1600" y="3152775"/>
            <a:ext cx="285750" cy="2857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829300"/>
            <a:ext cx="12192000" cy="10287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6324600"/>
            <a:ext cx="381000" cy="38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4200" y="630555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96600" y="6305550"/>
            <a:ext cx="76200" cy="762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49000" y="6305550"/>
            <a:ext cx="76200" cy="762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01400" y="6305550"/>
            <a:ext cx="76200" cy="762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353800" y="6305550"/>
            <a:ext cx="76200" cy="762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3262313" y="1428750"/>
            <a:ext cx="5667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b="1" spc="-108" kern="0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14" name="Text 1"/>
          <p:cNvSpPr/>
          <p:nvPr/>
        </p:nvSpPr>
        <p:spPr>
          <a:xfrm>
            <a:off x="3262313" y="2266950"/>
            <a:ext cx="5667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welcome your questions and feedback.</a:t>
            </a:r>
            <a:endParaRPr lang="en-US" sz="2250" dirty="0"/>
          </a:p>
        </p:txBody>
      </p:sp>
      <p:sp>
        <p:nvSpPr>
          <p:cNvPr id="15" name="Text 2"/>
          <p:cNvSpPr/>
          <p:nvPr/>
        </p:nvSpPr>
        <p:spPr>
          <a:xfrm>
            <a:off x="5581650" y="3143250"/>
            <a:ext cx="3017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Q&amp;A Session</a:t>
            </a:r>
            <a:endParaRPr lang="en-US" sz="1800" dirty="0"/>
          </a:p>
        </p:txBody>
      </p:sp>
      <p:sp>
        <p:nvSpPr>
          <p:cNvPr id="16" name="Text 3"/>
          <p:cNvSpPr/>
          <p:nvPr/>
        </p:nvSpPr>
        <p:spPr>
          <a:xfrm>
            <a:off x="1828800" y="4210050"/>
            <a:ext cx="396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144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CONTEXT</a:t>
            </a:r>
            <a:endParaRPr lang="en-US" sz="900" dirty="0"/>
          </a:p>
        </p:txBody>
      </p:sp>
      <p:sp>
        <p:nvSpPr>
          <p:cNvPr id="17" name="Text 4"/>
          <p:cNvSpPr/>
          <p:nvPr/>
        </p:nvSpPr>
        <p:spPr>
          <a:xfrm>
            <a:off x="1828800" y="4514850"/>
            <a:ext cx="7315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3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Relationship Management</a:t>
            </a:r>
            <a:endParaRPr lang="en-US" sz="1500" dirty="0"/>
          </a:p>
        </p:txBody>
      </p:sp>
      <p:sp>
        <p:nvSpPr>
          <p:cNvPr id="18" name="Text 5"/>
          <p:cNvSpPr/>
          <p:nvPr/>
        </p:nvSpPr>
        <p:spPr>
          <a:xfrm>
            <a:off x="1828800" y="478155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Applications of CRM Techniques at Ford</a:t>
            </a:r>
            <a:endParaRPr lang="en-US" sz="1200" dirty="0"/>
          </a:p>
        </p:txBody>
      </p:sp>
      <p:sp>
        <p:nvSpPr>
          <p:cNvPr id="19" name="Text 6"/>
          <p:cNvSpPr/>
          <p:nvPr/>
        </p:nvSpPr>
        <p:spPr>
          <a:xfrm>
            <a:off x="6400800" y="4210050"/>
            <a:ext cx="396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144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TEAM</a:t>
            </a:r>
            <a:endParaRPr lang="en-US" sz="900" dirty="0"/>
          </a:p>
        </p:txBody>
      </p:sp>
      <p:sp>
        <p:nvSpPr>
          <p:cNvPr id="20" name="Text 7"/>
          <p:cNvSpPr/>
          <p:nvPr/>
        </p:nvSpPr>
        <p:spPr>
          <a:xfrm>
            <a:off x="6400800" y="4514850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Sujana S</a:t>
            </a:r>
            <a:endParaRPr lang="en-US" sz="1350" dirty="0"/>
          </a:p>
        </p:txBody>
      </p:sp>
      <p:sp>
        <p:nvSpPr>
          <p:cNvPr id="21" name="Text 8"/>
          <p:cNvSpPr/>
          <p:nvPr/>
        </p:nvSpPr>
        <p:spPr>
          <a:xfrm>
            <a:off x="8458200" y="4514850"/>
            <a:ext cx="3497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Daphni Michelle B</a:t>
            </a:r>
            <a:endParaRPr lang="en-US" sz="1350" dirty="0"/>
          </a:p>
        </p:txBody>
      </p:sp>
      <p:sp>
        <p:nvSpPr>
          <p:cNvPr id="22" name="Text 9"/>
          <p:cNvSpPr/>
          <p:nvPr/>
        </p:nvSpPr>
        <p:spPr>
          <a:xfrm>
            <a:off x="6400800" y="4819650"/>
            <a:ext cx="288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Sree Darshne J</a:t>
            </a:r>
            <a:endParaRPr lang="en-US" sz="1350" dirty="0"/>
          </a:p>
        </p:txBody>
      </p:sp>
      <p:sp>
        <p:nvSpPr>
          <p:cNvPr id="23" name="Text 10"/>
          <p:cNvSpPr/>
          <p:nvPr/>
        </p:nvSpPr>
        <p:spPr>
          <a:xfrm>
            <a:off x="8458200" y="4819650"/>
            <a:ext cx="2674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Haripriya T N</a:t>
            </a:r>
            <a:endParaRPr lang="en-US" sz="1350" dirty="0"/>
          </a:p>
        </p:txBody>
      </p:sp>
      <p:sp>
        <p:nvSpPr>
          <p:cNvPr id="24" name="Text 11"/>
          <p:cNvSpPr/>
          <p:nvPr/>
        </p:nvSpPr>
        <p:spPr>
          <a:xfrm>
            <a:off x="1295400" y="6210300"/>
            <a:ext cx="1089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"Building Enduring Customer Relationships — One Data Point at a Time"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2026-04-13T07:13:52Z</dcterms:created>
  <dcterms:modified xsi:type="dcterms:W3CDTF">2026-04-13T07:13:52Z</dcterms:modified>
</cp:coreProperties>
</file>